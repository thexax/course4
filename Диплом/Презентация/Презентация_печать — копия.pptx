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</p:sldIdLst>
  <p:sldSz cx="10693400" cy="7561263"/>
  <p:notesSz cx="9144000" cy="6858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92036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84072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876108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168144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460180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752215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044252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336287" algn="l" defTabSz="5840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-1469" y="-211"/>
      </p:cViewPr>
      <p:guideLst>
        <p:guide orient="horz" pos="1588"/>
        <p:guide pos="16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1003" y="1565929"/>
            <a:ext cx="4544695" cy="10805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005" y="2856477"/>
            <a:ext cx="3742690" cy="12882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2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4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6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8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6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52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4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6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353" y="3239209"/>
            <a:ext cx="4544695" cy="1001167"/>
          </a:xfrm>
        </p:spPr>
        <p:txBody>
          <a:bodyPr anchor="t"/>
          <a:lstStyle>
            <a:lvl1pPr algn="l">
              <a:defRPr sz="2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353" y="2136525"/>
            <a:ext cx="4544695" cy="1102684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29203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8407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7610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6814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4601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75221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04425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3362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336" y="1176197"/>
            <a:ext cx="2361459" cy="3326723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17906" y="1176197"/>
            <a:ext cx="2361459" cy="3326723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335" y="1128356"/>
            <a:ext cx="2362388" cy="470245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92036" indent="0">
              <a:buNone/>
              <a:defRPr sz="1300" b="1"/>
            </a:lvl2pPr>
            <a:lvl3pPr marL="584072" indent="0">
              <a:buNone/>
              <a:defRPr sz="1200" b="1"/>
            </a:lvl3pPr>
            <a:lvl4pPr marL="876108" indent="0">
              <a:buNone/>
              <a:defRPr sz="1000" b="1"/>
            </a:lvl4pPr>
            <a:lvl5pPr marL="1168144" indent="0">
              <a:buNone/>
              <a:defRPr sz="1000" b="1"/>
            </a:lvl5pPr>
            <a:lvl6pPr marL="1460180" indent="0">
              <a:buNone/>
              <a:defRPr sz="1000" b="1"/>
            </a:lvl6pPr>
            <a:lvl7pPr marL="1752215" indent="0">
              <a:buNone/>
              <a:defRPr sz="1000" b="1"/>
            </a:lvl7pPr>
            <a:lvl8pPr marL="2044252" indent="0">
              <a:buNone/>
              <a:defRPr sz="1000" b="1"/>
            </a:lvl8pPr>
            <a:lvl9pPr marL="2336287" indent="0">
              <a:buNone/>
              <a:defRPr sz="1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335" y="1598601"/>
            <a:ext cx="2362388" cy="2904319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16050" y="1128356"/>
            <a:ext cx="2363316" cy="470245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92036" indent="0">
              <a:buNone/>
              <a:defRPr sz="1300" b="1"/>
            </a:lvl2pPr>
            <a:lvl3pPr marL="584072" indent="0">
              <a:buNone/>
              <a:defRPr sz="1200" b="1"/>
            </a:lvl3pPr>
            <a:lvl4pPr marL="876108" indent="0">
              <a:buNone/>
              <a:defRPr sz="1000" b="1"/>
            </a:lvl4pPr>
            <a:lvl5pPr marL="1168144" indent="0">
              <a:buNone/>
              <a:defRPr sz="1000" b="1"/>
            </a:lvl5pPr>
            <a:lvl6pPr marL="1460180" indent="0">
              <a:buNone/>
              <a:defRPr sz="1000" b="1"/>
            </a:lvl6pPr>
            <a:lvl7pPr marL="1752215" indent="0">
              <a:buNone/>
              <a:defRPr sz="1000" b="1"/>
            </a:lvl7pPr>
            <a:lvl8pPr marL="2044252" indent="0">
              <a:buNone/>
              <a:defRPr sz="1000" b="1"/>
            </a:lvl8pPr>
            <a:lvl9pPr marL="2336287" indent="0">
              <a:buNone/>
              <a:defRPr sz="1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16050" y="1598601"/>
            <a:ext cx="2363316" cy="2904319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335" y="200700"/>
            <a:ext cx="1759028" cy="854143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411" y="200701"/>
            <a:ext cx="2988954" cy="4302219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335" y="1054844"/>
            <a:ext cx="1759028" cy="3448076"/>
          </a:xfrm>
        </p:spPr>
        <p:txBody>
          <a:bodyPr/>
          <a:lstStyle>
            <a:lvl1pPr marL="0" indent="0">
              <a:buNone/>
              <a:defRPr sz="900"/>
            </a:lvl1pPr>
            <a:lvl2pPr marL="292036" indent="0">
              <a:buNone/>
              <a:defRPr sz="800"/>
            </a:lvl2pPr>
            <a:lvl3pPr marL="584072" indent="0">
              <a:buNone/>
              <a:defRPr sz="700"/>
            </a:lvl3pPr>
            <a:lvl4pPr marL="876108" indent="0">
              <a:buNone/>
              <a:defRPr sz="500"/>
            </a:lvl4pPr>
            <a:lvl5pPr marL="1168144" indent="0">
              <a:buNone/>
              <a:defRPr sz="500"/>
            </a:lvl5pPr>
            <a:lvl6pPr marL="1460180" indent="0">
              <a:buNone/>
              <a:defRPr sz="500"/>
            </a:lvl6pPr>
            <a:lvl7pPr marL="1752215" indent="0">
              <a:buNone/>
              <a:defRPr sz="500"/>
            </a:lvl7pPr>
            <a:lvl8pPr marL="2044252" indent="0">
              <a:buNone/>
              <a:defRPr sz="500"/>
            </a:lvl8pPr>
            <a:lvl9pPr marL="2336287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991" y="3528590"/>
            <a:ext cx="3208020" cy="41657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47991" y="450409"/>
            <a:ext cx="3208020" cy="3024505"/>
          </a:xfrm>
        </p:spPr>
        <p:txBody>
          <a:bodyPr/>
          <a:lstStyle>
            <a:lvl1pPr marL="0" indent="0">
              <a:buNone/>
              <a:defRPr sz="2100"/>
            </a:lvl1pPr>
            <a:lvl2pPr marL="292036" indent="0">
              <a:buNone/>
              <a:defRPr sz="1700"/>
            </a:lvl2pPr>
            <a:lvl3pPr marL="584072" indent="0">
              <a:buNone/>
              <a:defRPr sz="1500"/>
            </a:lvl3pPr>
            <a:lvl4pPr marL="876108" indent="0">
              <a:buNone/>
              <a:defRPr sz="1300"/>
            </a:lvl4pPr>
            <a:lvl5pPr marL="1168144" indent="0">
              <a:buNone/>
              <a:defRPr sz="1300"/>
            </a:lvl5pPr>
            <a:lvl6pPr marL="1460180" indent="0">
              <a:buNone/>
              <a:defRPr sz="1300"/>
            </a:lvl6pPr>
            <a:lvl7pPr marL="1752215" indent="0">
              <a:buNone/>
              <a:defRPr sz="1300"/>
            </a:lvl7pPr>
            <a:lvl8pPr marL="2044252" indent="0">
              <a:buNone/>
              <a:defRPr sz="1300"/>
            </a:lvl8pPr>
            <a:lvl9pPr marL="2336287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7991" y="3945159"/>
            <a:ext cx="3208020" cy="591599"/>
          </a:xfrm>
        </p:spPr>
        <p:txBody>
          <a:bodyPr/>
          <a:lstStyle>
            <a:lvl1pPr marL="0" indent="0">
              <a:buNone/>
              <a:defRPr sz="900"/>
            </a:lvl1pPr>
            <a:lvl2pPr marL="292036" indent="0">
              <a:buNone/>
              <a:defRPr sz="800"/>
            </a:lvl2pPr>
            <a:lvl3pPr marL="584072" indent="0">
              <a:buNone/>
              <a:defRPr sz="700"/>
            </a:lvl3pPr>
            <a:lvl4pPr marL="876108" indent="0">
              <a:buNone/>
              <a:defRPr sz="500"/>
            </a:lvl4pPr>
            <a:lvl5pPr marL="1168144" indent="0">
              <a:buNone/>
              <a:defRPr sz="500"/>
            </a:lvl5pPr>
            <a:lvl6pPr marL="1460180" indent="0">
              <a:buNone/>
              <a:defRPr sz="500"/>
            </a:lvl6pPr>
            <a:lvl7pPr marL="1752215" indent="0">
              <a:buNone/>
              <a:defRPr sz="500"/>
            </a:lvl7pPr>
            <a:lvl8pPr marL="2044252" indent="0">
              <a:buNone/>
              <a:defRPr sz="500"/>
            </a:lvl8pPr>
            <a:lvl9pPr marL="2336287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76358" y="201868"/>
            <a:ext cx="1203008" cy="43010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335" y="201868"/>
            <a:ext cx="3519911" cy="43010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335" y="201868"/>
            <a:ext cx="4812030" cy="840140"/>
          </a:xfrm>
          <a:prstGeom prst="rect">
            <a:avLst/>
          </a:prstGeom>
        </p:spPr>
        <p:txBody>
          <a:bodyPr vert="horz" lIns="58408" tIns="29203" rIns="58408" bIns="2920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335" y="1176197"/>
            <a:ext cx="4812030" cy="3326723"/>
          </a:xfrm>
          <a:prstGeom prst="rect">
            <a:avLst/>
          </a:prstGeom>
        </p:spPr>
        <p:txBody>
          <a:bodyPr vert="horz" lIns="58408" tIns="29203" rIns="58408" bIns="2920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7335" y="4672114"/>
            <a:ext cx="1247563" cy="268379"/>
          </a:xfrm>
          <a:prstGeom prst="rect">
            <a:avLst/>
          </a:prstGeom>
        </p:spPr>
        <p:txBody>
          <a:bodyPr vert="horz" lIns="58408" tIns="29203" rIns="58408" bIns="29203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789" y="4672114"/>
            <a:ext cx="1693122" cy="268379"/>
          </a:xfrm>
          <a:prstGeom prst="rect">
            <a:avLst/>
          </a:prstGeom>
        </p:spPr>
        <p:txBody>
          <a:bodyPr vert="horz" lIns="58408" tIns="29203" rIns="58408" bIns="29203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1802" y="4672114"/>
            <a:ext cx="1247563" cy="268379"/>
          </a:xfrm>
          <a:prstGeom prst="rect">
            <a:avLst/>
          </a:prstGeom>
        </p:spPr>
        <p:txBody>
          <a:bodyPr vert="horz" lIns="58408" tIns="29203" rIns="58408" bIns="29203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84072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027" indent="-219027" algn="l" defTabSz="584072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74558" indent="-182523" algn="l" defTabSz="584072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730090" indent="-146018" algn="l" defTabSz="584072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2125" indent="-146018" algn="l" defTabSz="584072" rtl="0" eaLnBrk="1" latinLnBrk="0" hangingPunct="1">
        <a:spcBef>
          <a:spcPct val="20000"/>
        </a:spcBef>
        <a:buFont typeface="Arial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14162" indent="-146018" algn="l" defTabSz="584072" rtl="0" eaLnBrk="1" latinLnBrk="0" hangingPunct="1">
        <a:spcBef>
          <a:spcPct val="20000"/>
        </a:spcBef>
        <a:buFont typeface="Arial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197" indent="-146018" algn="l" defTabSz="584072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898234" indent="-146018" algn="l" defTabSz="584072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190269" indent="-146018" algn="l" defTabSz="584072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482305" indent="-146018" algn="l" defTabSz="584072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92036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84072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76108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68144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60180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52215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44252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36287" algn="l" defTabSz="58407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772" y="5667523"/>
            <a:ext cx="1349392" cy="1469928"/>
          </a:xfrm>
          <a:custGeom>
            <a:avLst/>
            <a:gdLst/>
            <a:ahLst/>
            <a:cxnLst/>
            <a:rect l="l" t="t" r="r" b="b"/>
            <a:pathLst>
              <a:path w="2307749" h="2551838">
                <a:moveTo>
                  <a:pt x="0" y="0"/>
                </a:moveTo>
                <a:lnTo>
                  <a:pt x="2307750" y="0"/>
                </a:lnTo>
                <a:lnTo>
                  <a:pt x="2307750" y="2551838"/>
                </a:lnTo>
                <a:lnTo>
                  <a:pt x="0" y="255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38680" y="714120"/>
            <a:ext cx="6560950" cy="1880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МИНИСТЕРСТВО ОБРАЗОВАНИЯ РЕСПУБЛИКИ БЕЛАРУСЬ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Учреждение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образования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«БЕЛОРУССКИЙ ГОСУДАРСТВЕННЫЙ 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ТЕХНОЛОГИЧЕСКИЙ УНИВЕРСИТЕТ»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Факультет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Кафедра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Специальность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1-40 05 01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Информационные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системы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технологии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0469" y="3717621"/>
            <a:ext cx="8678105" cy="93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Тема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дипломного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проекта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 </a:t>
            </a:r>
          </a:p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«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Веб-приложение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для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онлайн-библиотеки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03500" y="6049011"/>
            <a:ext cx="8042422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Дипломник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    Стрелковская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Вероника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ru-RU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ндреевна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>
              <a:lnSpc>
                <a:spcPts val="2683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Руководитель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</a:t>
            </a:r>
            <a:r>
              <a:rPr lang="ru-RU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старший преподаватель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Сазонова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Дарья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Владимировна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4"/>
          <p:cNvGrpSpPr/>
          <p:nvPr/>
        </p:nvGrpSpPr>
        <p:grpSpPr>
          <a:xfrm>
            <a:off x="222780" y="464370"/>
            <a:ext cx="1257845" cy="1299925"/>
            <a:chOff x="0" y="0"/>
            <a:chExt cx="812800" cy="812800"/>
          </a:xfrm>
        </p:grpSpPr>
        <p:sp>
          <p:nvSpPr>
            <p:cNvPr id="19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20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2648" y="2464057"/>
            <a:ext cx="9329588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условиях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активного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развития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цифровых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увеличения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объема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электронных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ресурсов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растет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спрос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на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онлайн-сервисы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хранения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чтения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литературы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Все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больше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пользователей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предпочитают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электронные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книги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так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как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это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удобно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позволяет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получить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доступ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к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ним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с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разных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устройств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в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любое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время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826" y="4284716"/>
            <a:ext cx="9563597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  <a:spcBef>
                <a:spcPct val="0"/>
              </a:spcBef>
            </a:pP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На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сегодняшний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день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существует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большое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количество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цифровых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библиотек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сервисов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чтения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однако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многие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из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них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ограничиваются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базовым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просмотром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контента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предоставляют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достаточных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возможностей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работы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с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текстом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 В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частности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часто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отсутствуют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функции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создания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заметок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цитат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формирования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личных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коллекций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сохранения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книг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в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библиотеку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избранное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11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2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894544" y="924155"/>
            <a:ext cx="4945698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Актуальность проекта</a:t>
            </a: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4"/>
          <p:cNvGrpSpPr/>
          <p:nvPr/>
        </p:nvGrpSpPr>
        <p:grpSpPr>
          <a:xfrm>
            <a:off x="222780" y="464370"/>
            <a:ext cx="1257845" cy="1299925"/>
            <a:chOff x="0" y="0"/>
            <a:chExt cx="812800" cy="812800"/>
          </a:xfrm>
        </p:grpSpPr>
        <p:sp>
          <p:nvSpPr>
            <p:cNvPr id="21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25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0822" y="4415529"/>
            <a:ext cx="10263466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БД,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3938" y="2259092"/>
            <a:ext cx="9610351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2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Цель</a:t>
            </a: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разработка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веб-приложения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онлайн-библиотеки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49733" y="3293492"/>
            <a:ext cx="3598599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82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Основные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задачи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</a:t>
            </a:r>
          </a:p>
        </p:txBody>
      </p:sp>
      <p:sp>
        <p:nvSpPr>
          <p:cNvPr id="12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3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8" name="TextBox 9"/>
          <p:cNvSpPr txBox="1"/>
          <p:nvPr/>
        </p:nvSpPr>
        <p:spPr>
          <a:xfrm>
            <a:off x="921963" y="906413"/>
            <a:ext cx="5658591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Цель и основные задачи</a:t>
            </a: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0" name="TextBox 7"/>
          <p:cNvSpPr txBox="1"/>
          <p:nvPr/>
        </p:nvSpPr>
        <p:spPr>
          <a:xfrm>
            <a:off x="340822" y="4063198"/>
            <a:ext cx="9751075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 algn="just">
              <a:lnSpc>
                <a:spcPts val="2236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роанализировать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существующие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решения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их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возможности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;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340823" y="4861428"/>
            <a:ext cx="8882235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ализовать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серверную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клиентскую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3" name="TextBox 7"/>
          <p:cNvSpPr txBox="1"/>
          <p:nvPr/>
        </p:nvSpPr>
        <p:spPr>
          <a:xfrm>
            <a:off x="349734" y="5366737"/>
            <a:ext cx="6395334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ровести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4" name="TextBox 7"/>
          <p:cNvSpPr txBox="1"/>
          <p:nvPr/>
        </p:nvSpPr>
        <p:spPr>
          <a:xfrm>
            <a:off x="340823" y="5854019"/>
            <a:ext cx="5663047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6" name="TextBox 7"/>
          <p:cNvSpPr txBox="1"/>
          <p:nvPr/>
        </p:nvSpPr>
        <p:spPr>
          <a:xfrm>
            <a:off x="349734" y="6306470"/>
            <a:ext cx="9006992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технико-экономическое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390741" y="2351658"/>
            <a:ext cx="4955959" cy="2938931"/>
          </a:xfrm>
          <a:custGeom>
            <a:avLst/>
            <a:gdLst/>
            <a:ahLst/>
            <a:cxnLst/>
            <a:rect l="l" t="t" r="r" b="b"/>
            <a:pathLst>
              <a:path w="7553352" h="3563243">
                <a:moveTo>
                  <a:pt x="0" y="0"/>
                </a:moveTo>
                <a:lnTo>
                  <a:pt x="7553352" y="0"/>
                </a:lnTo>
                <a:lnTo>
                  <a:pt x="7553352" y="3563244"/>
                </a:lnTo>
                <a:lnTo>
                  <a:pt x="0" y="356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6" r="-127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75283" y="3892650"/>
            <a:ext cx="4793139" cy="2779153"/>
          </a:xfrm>
          <a:custGeom>
            <a:avLst/>
            <a:gdLst/>
            <a:ahLst/>
            <a:cxnLst/>
            <a:rect l="l" t="t" r="r" b="b"/>
            <a:pathLst>
              <a:path w="7527336" h="3471984">
                <a:moveTo>
                  <a:pt x="0" y="0"/>
                </a:moveTo>
                <a:lnTo>
                  <a:pt x="7527336" y="0"/>
                </a:lnTo>
                <a:lnTo>
                  <a:pt x="7527336" y="3471984"/>
                </a:lnTo>
                <a:lnTo>
                  <a:pt x="0" y="347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75285" y="859828"/>
            <a:ext cx="4746031" cy="2781668"/>
          </a:xfrm>
          <a:custGeom>
            <a:avLst/>
            <a:gdLst/>
            <a:ahLst/>
            <a:cxnLst/>
            <a:rect l="l" t="t" r="r" b="b"/>
            <a:pathLst>
              <a:path w="7527336" h="3509620">
                <a:moveTo>
                  <a:pt x="0" y="0"/>
                </a:moveTo>
                <a:lnTo>
                  <a:pt x="7527336" y="0"/>
                </a:lnTo>
                <a:lnTo>
                  <a:pt x="7527336" y="3509620"/>
                </a:lnTo>
                <a:lnTo>
                  <a:pt x="0" y="350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4"/>
          <p:cNvGrpSpPr/>
          <p:nvPr/>
        </p:nvGrpSpPr>
        <p:grpSpPr>
          <a:xfrm>
            <a:off x="222780" y="588099"/>
            <a:ext cx="1034100" cy="1067614"/>
            <a:chOff x="0" y="0"/>
            <a:chExt cx="812800" cy="812800"/>
          </a:xfrm>
        </p:grpSpPr>
        <p:sp>
          <p:nvSpPr>
            <p:cNvPr id="1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4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8" name="TextBox 9"/>
          <p:cNvSpPr txBox="1"/>
          <p:nvPr/>
        </p:nvSpPr>
        <p:spPr>
          <a:xfrm>
            <a:off x="757450" y="906413"/>
            <a:ext cx="4917834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Рассмотрение аналогов</a:t>
            </a: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9" name="TextBox 9"/>
          <p:cNvSpPr txBox="1"/>
          <p:nvPr/>
        </p:nvSpPr>
        <p:spPr>
          <a:xfrm>
            <a:off x="2533792" y="5478574"/>
            <a:ext cx="971317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Litnet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0" name="TextBox 9"/>
          <p:cNvSpPr txBox="1"/>
          <p:nvPr/>
        </p:nvSpPr>
        <p:spPr>
          <a:xfrm>
            <a:off x="7485380" y="6693120"/>
            <a:ext cx="1645138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MyBook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1" name="TextBox 9"/>
          <p:cNvSpPr txBox="1"/>
          <p:nvPr/>
        </p:nvSpPr>
        <p:spPr>
          <a:xfrm>
            <a:off x="7039822" y="337570"/>
            <a:ext cx="2666495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Яндекс Книги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1"/>
          <p:cNvSpPr/>
          <p:nvPr/>
        </p:nvSpPr>
        <p:spPr>
          <a:xfrm>
            <a:off x="5385073" y="4203136"/>
            <a:ext cx="2930285" cy="2284886"/>
          </a:xfrm>
          <a:custGeom>
            <a:avLst/>
            <a:gdLst/>
            <a:ahLst/>
            <a:cxnLst/>
            <a:rect l="l" t="t" r="r" b="b"/>
            <a:pathLst>
              <a:path w="3888298" h="2968485">
                <a:moveTo>
                  <a:pt x="0" y="0"/>
                </a:moveTo>
                <a:lnTo>
                  <a:pt x="3888297" y="0"/>
                </a:lnTo>
                <a:lnTo>
                  <a:pt x="3888297" y="2968485"/>
                </a:lnTo>
                <a:lnTo>
                  <a:pt x="0" y="2968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447704" y="1800532"/>
            <a:ext cx="1577359" cy="1618773"/>
          </a:xfrm>
          <a:custGeom>
            <a:avLst/>
            <a:gdLst/>
            <a:ahLst/>
            <a:cxnLst/>
            <a:rect l="l" t="t" r="r" b="b"/>
            <a:pathLst>
              <a:path w="2140500" h="2140500">
                <a:moveTo>
                  <a:pt x="0" y="0"/>
                </a:moveTo>
                <a:lnTo>
                  <a:pt x="2140500" y="0"/>
                </a:lnTo>
                <a:lnTo>
                  <a:pt x="2140500" y="2140500"/>
                </a:lnTo>
                <a:lnTo>
                  <a:pt x="0" y="2140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94664" y="4639714"/>
            <a:ext cx="2623369" cy="1491219"/>
          </a:xfrm>
          <a:custGeom>
            <a:avLst/>
            <a:gdLst/>
            <a:ahLst/>
            <a:cxnLst/>
            <a:rect l="l" t="t" r="r" b="b"/>
            <a:pathLst>
              <a:path w="4193228" h="2358691">
                <a:moveTo>
                  <a:pt x="0" y="0"/>
                </a:moveTo>
                <a:lnTo>
                  <a:pt x="4193228" y="0"/>
                </a:lnTo>
                <a:lnTo>
                  <a:pt x="4193228" y="2358691"/>
                </a:lnTo>
                <a:lnTo>
                  <a:pt x="0" y="2358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1002" y="1800532"/>
            <a:ext cx="1534414" cy="1486424"/>
          </a:xfrm>
          <a:custGeom>
            <a:avLst/>
            <a:gdLst/>
            <a:ahLst/>
            <a:cxnLst/>
            <a:rect l="l" t="t" r="r" b="b"/>
            <a:pathLst>
              <a:path w="1912055" h="1703175">
                <a:moveTo>
                  <a:pt x="0" y="0"/>
                </a:moveTo>
                <a:lnTo>
                  <a:pt x="1912055" y="0"/>
                </a:lnTo>
                <a:lnTo>
                  <a:pt x="1912055" y="1703175"/>
                </a:lnTo>
                <a:lnTo>
                  <a:pt x="0" y="170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017668" y="1968560"/>
            <a:ext cx="2002383" cy="1211954"/>
          </a:xfrm>
          <a:custGeom>
            <a:avLst/>
            <a:gdLst/>
            <a:ahLst/>
            <a:cxnLst/>
            <a:rect l="l" t="t" r="r" b="b"/>
            <a:pathLst>
              <a:path w="2854158" h="1706805">
                <a:moveTo>
                  <a:pt x="0" y="0"/>
                </a:moveTo>
                <a:lnTo>
                  <a:pt x="2854158" y="0"/>
                </a:lnTo>
                <a:lnTo>
                  <a:pt x="2854158" y="1706805"/>
                </a:lnTo>
                <a:lnTo>
                  <a:pt x="0" y="17068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5947959" y="6039948"/>
            <a:ext cx="1804512" cy="291611"/>
            <a:chOff x="0" y="0"/>
            <a:chExt cx="812800" cy="1044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04489"/>
            </a:xfrm>
            <a:custGeom>
              <a:avLst/>
              <a:gdLst/>
              <a:ahLst/>
              <a:cxnLst/>
              <a:rect l="l" t="t" r="r" b="b"/>
              <a:pathLst>
                <a:path w="812800" h="104489">
                  <a:moveTo>
                    <a:pt x="0" y="0"/>
                  </a:moveTo>
                  <a:lnTo>
                    <a:pt x="812800" y="0"/>
                  </a:lnTo>
                  <a:lnTo>
                    <a:pt x="812800" y="104489"/>
                  </a:lnTo>
                  <a:lnTo>
                    <a:pt x="0" y="104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4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297132" y="6260158"/>
            <a:ext cx="1976758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PostgreSQL 15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28905" y="6260158"/>
            <a:ext cx="2469368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Sequelize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ORM 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76497" y="6260158"/>
            <a:ext cx="1956060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Docker 28.5.2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56681" y="3499734"/>
            <a:ext cx="1557493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Node.js 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5002" y="6260158"/>
            <a:ext cx="1642693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Express.js 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9505" y="3506972"/>
            <a:ext cx="210726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React.js 19.2.0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96773" y="3503354"/>
            <a:ext cx="3243469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TanStack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React Query 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44908" y="3499735"/>
            <a:ext cx="2153365" cy="35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React Router 6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22779" y="5795253"/>
            <a:ext cx="1804512" cy="397941"/>
            <a:chOff x="0" y="-38100"/>
            <a:chExt cx="812800" cy="14258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104489"/>
            </a:xfrm>
            <a:custGeom>
              <a:avLst/>
              <a:gdLst/>
              <a:ahLst/>
              <a:cxnLst/>
              <a:rect l="l" t="t" r="r" b="b"/>
              <a:pathLst>
                <a:path w="812800" h="104489">
                  <a:moveTo>
                    <a:pt x="0" y="0"/>
                  </a:moveTo>
                  <a:lnTo>
                    <a:pt x="812800" y="0"/>
                  </a:lnTo>
                  <a:lnTo>
                    <a:pt x="812800" y="104489"/>
                  </a:lnTo>
                  <a:lnTo>
                    <a:pt x="0" y="104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12800" cy="14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/>
            </a:p>
          </p:txBody>
        </p:sp>
      </p:grpSp>
      <p:sp>
        <p:nvSpPr>
          <p:cNvPr id="31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4"/>
          <p:cNvGrpSpPr/>
          <p:nvPr/>
        </p:nvGrpSpPr>
        <p:grpSpPr>
          <a:xfrm>
            <a:off x="222780" y="464370"/>
            <a:ext cx="916287" cy="963869"/>
            <a:chOff x="0" y="0"/>
            <a:chExt cx="812800" cy="812800"/>
          </a:xfrm>
        </p:grpSpPr>
        <p:sp>
          <p:nvSpPr>
            <p:cNvPr id="34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35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Box 8"/>
          <p:cNvSpPr txBox="1"/>
          <p:nvPr/>
        </p:nvSpPr>
        <p:spPr>
          <a:xfrm>
            <a:off x="10332557" y="6828944"/>
            <a:ext cx="271732" cy="6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5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37" name="TextBox 9"/>
          <p:cNvSpPr txBox="1"/>
          <p:nvPr/>
        </p:nvSpPr>
        <p:spPr>
          <a:xfrm>
            <a:off x="686750" y="709607"/>
            <a:ext cx="5153492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3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Используемые технологии</a:t>
            </a:r>
            <a:endParaRPr lang="en-US" sz="33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553" y="1800532"/>
            <a:ext cx="1534414" cy="1618774"/>
          </a:xfrm>
          <a:prstGeom prst="rect">
            <a:avLst/>
          </a:prstGeom>
        </p:spPr>
      </p:pic>
      <p:sp>
        <p:nvSpPr>
          <p:cNvPr id="38" name="Freeform 7"/>
          <p:cNvSpPr/>
          <p:nvPr/>
        </p:nvSpPr>
        <p:spPr>
          <a:xfrm>
            <a:off x="3418531" y="4484298"/>
            <a:ext cx="1599142" cy="1688981"/>
          </a:xfrm>
          <a:custGeom>
            <a:avLst/>
            <a:gdLst/>
            <a:ahLst/>
            <a:cxnLst/>
            <a:rect l="l" t="t" r="r" b="b"/>
            <a:pathLst>
              <a:path w="1965777" h="2032792">
                <a:moveTo>
                  <a:pt x="0" y="0"/>
                </a:moveTo>
                <a:lnTo>
                  <a:pt x="1965777" y="0"/>
                </a:lnTo>
                <a:lnTo>
                  <a:pt x="1965777" y="2032792"/>
                </a:lnTo>
                <a:lnTo>
                  <a:pt x="0" y="20327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0" name="Freeform 8"/>
          <p:cNvSpPr/>
          <p:nvPr/>
        </p:nvSpPr>
        <p:spPr>
          <a:xfrm>
            <a:off x="8282106" y="4200701"/>
            <a:ext cx="2000010" cy="2035279"/>
          </a:xfrm>
          <a:custGeom>
            <a:avLst/>
            <a:gdLst/>
            <a:ahLst/>
            <a:cxnLst/>
            <a:rect l="l" t="t" r="r" b="b"/>
            <a:pathLst>
              <a:path w="2368902" h="2360257">
                <a:moveTo>
                  <a:pt x="0" y="0"/>
                </a:moveTo>
                <a:lnTo>
                  <a:pt x="2368902" y="0"/>
                </a:lnTo>
                <a:lnTo>
                  <a:pt x="2368902" y="2360257"/>
                </a:lnTo>
                <a:lnTo>
                  <a:pt x="0" y="23602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4"/>
          <p:cNvGrpSpPr/>
          <p:nvPr/>
        </p:nvGrpSpPr>
        <p:grpSpPr>
          <a:xfrm>
            <a:off x="332991" y="496362"/>
            <a:ext cx="1065377" cy="1099905"/>
            <a:chOff x="0" y="0"/>
            <a:chExt cx="812800" cy="812800"/>
          </a:xfrm>
        </p:grpSpPr>
        <p:sp>
          <p:nvSpPr>
            <p:cNvPr id="23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24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6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0" name="TextBox 9"/>
          <p:cNvSpPr txBox="1"/>
          <p:nvPr/>
        </p:nvSpPr>
        <p:spPr>
          <a:xfrm>
            <a:off x="904441" y="793621"/>
            <a:ext cx="8061564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вариантов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использования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«</a:t>
            </a:r>
            <a: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Гость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" y="2218932"/>
            <a:ext cx="10604288" cy="3097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7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" y="1316235"/>
            <a:ext cx="10604288" cy="5320873"/>
          </a:xfrm>
          <a:prstGeom prst="rect">
            <a:avLst/>
          </a:prstGeom>
        </p:spPr>
      </p:pic>
      <p:grpSp>
        <p:nvGrpSpPr>
          <p:cNvPr id="14" name="Group 4"/>
          <p:cNvGrpSpPr/>
          <p:nvPr/>
        </p:nvGrpSpPr>
        <p:grpSpPr>
          <a:xfrm>
            <a:off x="332991" y="328334"/>
            <a:ext cx="1065377" cy="1099905"/>
            <a:chOff x="0" y="0"/>
            <a:chExt cx="812800" cy="812800"/>
          </a:xfrm>
        </p:grpSpPr>
        <p:sp>
          <p:nvSpPr>
            <p:cNvPr id="1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9"/>
          <p:cNvSpPr txBox="1"/>
          <p:nvPr/>
        </p:nvSpPr>
        <p:spPr>
          <a:xfrm>
            <a:off x="904441" y="577068"/>
            <a:ext cx="9187456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вариантов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использования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«</a:t>
            </a:r>
            <a: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Пользователь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8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grpSp>
        <p:nvGrpSpPr>
          <p:cNvPr id="17" name="Group 4"/>
          <p:cNvGrpSpPr/>
          <p:nvPr/>
        </p:nvGrpSpPr>
        <p:grpSpPr>
          <a:xfrm>
            <a:off x="332991" y="328334"/>
            <a:ext cx="1065377" cy="1099905"/>
            <a:chOff x="0" y="0"/>
            <a:chExt cx="812800" cy="812800"/>
          </a:xfrm>
        </p:grpSpPr>
        <p:sp>
          <p:nvSpPr>
            <p:cNvPr id="18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9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9"/>
          <p:cNvSpPr txBox="1"/>
          <p:nvPr/>
        </p:nvSpPr>
        <p:spPr>
          <a:xfrm>
            <a:off x="904441" y="577068"/>
            <a:ext cx="9187456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вариантов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использования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«</a:t>
            </a:r>
            <a: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Администратор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11" y="1176197"/>
            <a:ext cx="10091897" cy="5959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8"/>
          <p:cNvSpPr txBox="1"/>
          <p:nvPr/>
        </p:nvSpPr>
        <p:spPr>
          <a:xfrm>
            <a:off x="10332557" y="6828945"/>
            <a:ext cx="271732" cy="7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9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8954"/>
            <a:ext cx="10693400" cy="5728225"/>
          </a:xfrm>
          <a:prstGeom prst="rect">
            <a:avLst/>
          </a:prstGeom>
        </p:spPr>
      </p:pic>
      <p:grpSp>
        <p:nvGrpSpPr>
          <p:cNvPr id="17" name="Group 4"/>
          <p:cNvGrpSpPr/>
          <p:nvPr/>
        </p:nvGrpSpPr>
        <p:grpSpPr>
          <a:xfrm>
            <a:off x="332991" y="328334"/>
            <a:ext cx="1065377" cy="1099905"/>
            <a:chOff x="0" y="0"/>
            <a:chExt cx="812800" cy="812800"/>
          </a:xfrm>
        </p:grpSpPr>
        <p:sp>
          <p:nvSpPr>
            <p:cNvPr id="19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20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9"/>
          <p:cNvSpPr txBox="1"/>
          <p:nvPr/>
        </p:nvSpPr>
        <p:spPr>
          <a:xfrm>
            <a:off x="904441" y="577068"/>
            <a:ext cx="5429342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Логическая схема базы данных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8"/>
          <p:cNvSpPr txBox="1"/>
          <p:nvPr/>
        </p:nvSpPr>
        <p:spPr>
          <a:xfrm>
            <a:off x="10158942" y="6828944"/>
            <a:ext cx="445558" cy="692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10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90" y="1314309"/>
            <a:ext cx="10247843" cy="5490828"/>
          </a:xfrm>
          <a:prstGeom prst="rect">
            <a:avLst/>
          </a:prstGeom>
        </p:spPr>
      </p:pic>
      <p:grpSp>
        <p:nvGrpSpPr>
          <p:cNvPr id="18" name="Group 4"/>
          <p:cNvGrpSpPr/>
          <p:nvPr/>
        </p:nvGrpSpPr>
        <p:grpSpPr>
          <a:xfrm>
            <a:off x="332991" y="328334"/>
            <a:ext cx="1065377" cy="1099905"/>
            <a:chOff x="0" y="0"/>
            <a:chExt cx="812800" cy="812800"/>
          </a:xfrm>
        </p:grpSpPr>
        <p:sp>
          <p:nvSpPr>
            <p:cNvPr id="19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20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Box 9"/>
          <p:cNvSpPr txBox="1"/>
          <p:nvPr/>
        </p:nvSpPr>
        <p:spPr>
          <a:xfrm>
            <a:off x="904441" y="577068"/>
            <a:ext cx="5429342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 развертывания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" y="1525262"/>
            <a:ext cx="10604288" cy="5575382"/>
          </a:xfrm>
          <a:prstGeom prst="rect">
            <a:avLst/>
          </a:prstGeom>
        </p:spPr>
      </p:pic>
      <p:grpSp>
        <p:nvGrpSpPr>
          <p:cNvPr id="17" name="Group 4"/>
          <p:cNvGrpSpPr/>
          <p:nvPr/>
        </p:nvGrpSpPr>
        <p:grpSpPr>
          <a:xfrm>
            <a:off x="332991" y="328334"/>
            <a:ext cx="1065377" cy="1099905"/>
            <a:chOff x="0" y="0"/>
            <a:chExt cx="812800" cy="812800"/>
          </a:xfrm>
        </p:grpSpPr>
        <p:sp>
          <p:nvSpPr>
            <p:cNvPr id="18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9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9"/>
          <p:cNvSpPr txBox="1"/>
          <p:nvPr/>
        </p:nvSpPr>
        <p:spPr>
          <a:xfrm>
            <a:off x="904441" y="625593"/>
            <a:ext cx="6827710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Блок-схема алгоритма добавления книги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10158942" y="6828944"/>
            <a:ext cx="44555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11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022556" y="1797447"/>
            <a:ext cx="8666110" cy="5241497"/>
          </a:xfrm>
          <a:custGeom>
            <a:avLst/>
            <a:gdLst/>
            <a:ahLst/>
            <a:cxnLst/>
            <a:rect l="l" t="t" r="r" b="b"/>
            <a:pathLst>
              <a:path w="11872163" h="6277406">
                <a:moveTo>
                  <a:pt x="0" y="0"/>
                </a:moveTo>
                <a:lnTo>
                  <a:pt x="11872163" y="0"/>
                </a:lnTo>
                <a:lnTo>
                  <a:pt x="11872163" y="6277407"/>
                </a:lnTo>
                <a:lnTo>
                  <a:pt x="0" y="6277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4"/>
          <p:cNvGrpSpPr/>
          <p:nvPr/>
        </p:nvGrpSpPr>
        <p:grpSpPr>
          <a:xfrm>
            <a:off x="222780" y="588099"/>
            <a:ext cx="1034100" cy="1067614"/>
            <a:chOff x="0" y="0"/>
            <a:chExt cx="812800" cy="812800"/>
          </a:xfrm>
        </p:grpSpPr>
        <p:sp>
          <p:nvSpPr>
            <p:cNvPr id="18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9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9"/>
          <p:cNvSpPr txBox="1"/>
          <p:nvPr/>
        </p:nvSpPr>
        <p:spPr>
          <a:xfrm>
            <a:off x="757450" y="906413"/>
            <a:ext cx="4917834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Демонстрация работы</a:t>
            </a: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10158942" y="6828944"/>
            <a:ext cx="44555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12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4"/>
          <p:cNvGrpSpPr/>
          <p:nvPr/>
        </p:nvGrpSpPr>
        <p:grpSpPr>
          <a:xfrm>
            <a:off x="222780" y="360625"/>
            <a:ext cx="1034100" cy="1067614"/>
            <a:chOff x="0" y="0"/>
            <a:chExt cx="812800" cy="812800"/>
          </a:xfrm>
        </p:grpSpPr>
        <p:sp>
          <p:nvSpPr>
            <p:cNvPr id="18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9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9"/>
          <p:cNvSpPr txBox="1"/>
          <p:nvPr/>
        </p:nvSpPr>
        <p:spPr>
          <a:xfrm>
            <a:off x="757450" y="678939"/>
            <a:ext cx="6069875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Экономические показатели</a:t>
            </a: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1" name="Freeform 7"/>
          <p:cNvSpPr/>
          <p:nvPr/>
        </p:nvSpPr>
        <p:spPr>
          <a:xfrm>
            <a:off x="329028" y="1596839"/>
            <a:ext cx="10074418" cy="5376326"/>
          </a:xfrm>
          <a:custGeom>
            <a:avLst/>
            <a:gdLst/>
            <a:ahLst/>
            <a:cxnLst/>
            <a:rect l="l" t="t" r="r" b="b"/>
            <a:pathLst>
              <a:path w="12553155" h="6559023">
                <a:moveTo>
                  <a:pt x="0" y="0"/>
                </a:moveTo>
                <a:lnTo>
                  <a:pt x="12553154" y="0"/>
                </a:lnTo>
                <a:lnTo>
                  <a:pt x="12553154" y="6559024"/>
                </a:lnTo>
                <a:lnTo>
                  <a:pt x="0" y="655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8"/>
          <p:cNvSpPr txBox="1"/>
          <p:nvPr/>
        </p:nvSpPr>
        <p:spPr>
          <a:xfrm>
            <a:off x="10158942" y="6828944"/>
            <a:ext cx="44555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13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39828" y="1980675"/>
            <a:ext cx="9788471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2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ходе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дипломного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проектирования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было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разработано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веб-приложение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о</a:t>
            </a:r>
            <a:r>
              <a:rPr lang="ru-RU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лайн-библиотеки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а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также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решены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все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поставленные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задачи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</a:t>
            </a:r>
          </a:p>
        </p:txBody>
      </p:sp>
      <p:sp>
        <p:nvSpPr>
          <p:cNvPr id="11" name="AutoShape 2"/>
          <p:cNvSpPr/>
          <p:nvPr/>
        </p:nvSpPr>
        <p:spPr>
          <a:xfrm>
            <a:off x="106934" y="7309221"/>
            <a:ext cx="9984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3"/>
          <p:cNvSpPr/>
          <p:nvPr/>
        </p:nvSpPr>
        <p:spPr>
          <a:xfrm>
            <a:off x="106934" y="196033"/>
            <a:ext cx="1049735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5"/>
          <p:cNvSpPr txBox="1"/>
          <p:nvPr/>
        </p:nvSpPr>
        <p:spPr>
          <a:xfrm>
            <a:off x="766361" y="6237386"/>
            <a:ext cx="9607314" cy="706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2"/>
              </a:lnSpc>
              <a:spcBef>
                <a:spcPct val="0"/>
              </a:spcBef>
            </a:pPr>
            <a:r>
              <a:rPr lang="ru-RU" sz="25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Прошла апробация в рамках 77-ой научно-технической конференции учащихся, студентов и магистрантов БГТУ.</a:t>
            </a:r>
            <a:endParaRPr lang="en-US" sz="25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grpSp>
        <p:nvGrpSpPr>
          <p:cNvPr id="19" name="Group 4"/>
          <p:cNvGrpSpPr/>
          <p:nvPr/>
        </p:nvGrpSpPr>
        <p:grpSpPr>
          <a:xfrm>
            <a:off x="222780" y="464370"/>
            <a:ext cx="1257845" cy="1299925"/>
            <a:chOff x="0" y="0"/>
            <a:chExt cx="812800" cy="812800"/>
          </a:xfrm>
        </p:grpSpPr>
        <p:sp>
          <p:nvSpPr>
            <p:cNvPr id="20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21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88"/>
                </a:lnSpc>
              </a:pPr>
              <a:endParaRPr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TextBox 9"/>
          <p:cNvSpPr txBox="1"/>
          <p:nvPr/>
        </p:nvSpPr>
        <p:spPr>
          <a:xfrm>
            <a:off x="921963" y="906413"/>
            <a:ext cx="5658591" cy="466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77"/>
              </a:lnSpc>
            </a:pPr>
            <a:r>
              <a:rPr lang="ru-RU" sz="3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Заключение</a:t>
            </a: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9" name="TextBox 7"/>
          <p:cNvSpPr txBox="1"/>
          <p:nvPr/>
        </p:nvSpPr>
        <p:spPr>
          <a:xfrm>
            <a:off x="223878" y="3532756"/>
            <a:ext cx="1042496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БД,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0" name="TextBox 7"/>
          <p:cNvSpPr txBox="1"/>
          <p:nvPr/>
        </p:nvSpPr>
        <p:spPr>
          <a:xfrm>
            <a:off x="223878" y="3180425"/>
            <a:ext cx="9751075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 algn="just">
              <a:lnSpc>
                <a:spcPts val="2236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роанализирова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ны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существующие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решения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их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возможности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;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31" name="TextBox 7"/>
          <p:cNvSpPr txBox="1"/>
          <p:nvPr/>
        </p:nvSpPr>
        <p:spPr>
          <a:xfrm>
            <a:off x="223879" y="3978656"/>
            <a:ext cx="8882235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ализова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232790" y="4483965"/>
            <a:ext cx="6395334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дено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3" name="TextBox 7"/>
          <p:cNvSpPr txBox="1"/>
          <p:nvPr/>
        </p:nvSpPr>
        <p:spPr>
          <a:xfrm>
            <a:off x="223879" y="4971246"/>
            <a:ext cx="5663047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4" name="TextBox 7"/>
          <p:cNvSpPr txBox="1"/>
          <p:nvPr/>
        </p:nvSpPr>
        <p:spPr>
          <a:xfrm>
            <a:off x="232790" y="5423697"/>
            <a:ext cx="9006992" cy="373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5045" indent="-365045">
              <a:buFont typeface="Symbol" panose="05050102010706020507" pitchFamily="18" charset="2"/>
              <a:buChar char="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технико-экономическое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8"/>
          <p:cNvSpPr txBox="1"/>
          <p:nvPr/>
        </p:nvSpPr>
        <p:spPr>
          <a:xfrm>
            <a:off x="10158942" y="6828944"/>
            <a:ext cx="44555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65"/>
              </a:lnSpc>
            </a:pP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14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772" y="5667523"/>
            <a:ext cx="1349392" cy="1469928"/>
          </a:xfrm>
          <a:custGeom>
            <a:avLst/>
            <a:gdLst/>
            <a:ahLst/>
            <a:cxnLst/>
            <a:rect l="l" t="t" r="r" b="b"/>
            <a:pathLst>
              <a:path w="2307749" h="2551838">
                <a:moveTo>
                  <a:pt x="0" y="0"/>
                </a:moveTo>
                <a:lnTo>
                  <a:pt x="2307750" y="0"/>
                </a:lnTo>
                <a:lnTo>
                  <a:pt x="2307750" y="2551838"/>
                </a:lnTo>
                <a:lnTo>
                  <a:pt x="0" y="255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38680" y="714120"/>
            <a:ext cx="6560950" cy="1880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МИНИСТЕРСТВО ОБРАЗОВАНИЯ РЕСПУБЛИКИ БЕЛАРУСЬ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Учреждение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образования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«БЕЛОРУССКИЙ ГОСУДАРСТВЕННЫЙ 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ТЕХНОЛОГИЧЕСКИЙ УНИВЕРСИТЕТ»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Факультет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Кафедра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Специальность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1-40 05 01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Информационные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системы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технологии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0469" y="3717621"/>
            <a:ext cx="8678105" cy="93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Тема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дипломного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проекта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 </a:t>
            </a:r>
          </a:p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«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Веб-приложение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для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онлайн-библиотеки</a:t>
            </a: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03500" y="6049011"/>
            <a:ext cx="8042422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3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Дипломник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    Стрелковская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Вероника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ru-RU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ндреевна</a:t>
            </a:r>
            <a:endParaRPr lang="en-US" sz="21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>
              <a:lnSpc>
                <a:spcPts val="2683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Руководитель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</a:t>
            </a:r>
            <a:r>
              <a:rPr lang="ru-RU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старший преподаватель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Сазонова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Дарья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Владимировна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904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421</Words>
  <Application>Microsoft Office PowerPoint</Application>
  <PresentationFormat>Произвольный</PresentationFormat>
  <Paragraphs>77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Times New Roman</vt:lpstr>
      <vt:lpstr>Calibri</vt:lpstr>
      <vt:lpstr>Inter</vt:lpstr>
      <vt:lpstr>Symbol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РЕСПУБЛИКИ БЕЛАРУСЬ Учреждения образования «БЕЛОРУССКИЙ ГОСУДАРСТВЕННЫЙ ТЕХНОЛОГИЧЕСКИЙ УНИВЕРСИТЕТ» Факультет информационных технологий Кафедра информационных систем и технологий Специальность 1-40 05 01 Информационные системы и</dc:title>
  <dc:creator>User</dc:creator>
  <cp:lastModifiedBy>User</cp:lastModifiedBy>
  <cp:revision>33</cp:revision>
  <dcterms:created xsi:type="dcterms:W3CDTF">2006-08-16T00:00:00Z</dcterms:created>
  <dcterms:modified xsi:type="dcterms:W3CDTF">2026-06-16T13:57:56Z</dcterms:modified>
  <dc:identifier>DAHLH9s_JtA</dc:identifier>
</cp:coreProperties>
</file>