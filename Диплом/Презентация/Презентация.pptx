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0" d="100"/>
          <a:sy n="30" d="100"/>
        </p:scale>
        <p:origin x="-2098" y="-90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5511" y="7487082"/>
            <a:ext cx="2307749" cy="2551838"/>
          </a:xfrm>
          <a:custGeom>
            <a:avLst/>
            <a:gdLst/>
            <a:ahLst/>
            <a:cxnLst/>
            <a:rect l="l" t="t" r="r" b="b"/>
            <a:pathLst>
              <a:path w="2307749" h="2551838">
                <a:moveTo>
                  <a:pt x="0" y="0"/>
                </a:moveTo>
                <a:lnTo>
                  <a:pt x="2307750" y="0"/>
                </a:lnTo>
                <a:lnTo>
                  <a:pt x="2307750" y="2551838"/>
                </a:lnTo>
                <a:lnTo>
                  <a:pt x="0" y="255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57600" y="971550"/>
            <a:ext cx="11220628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МИНИСТЕРСТВО ОБРАЗОВАНИЯ РЕСПУБЛИКИ БЕЛАРУСЬ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Учреждение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образования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«БЕЛОРУССКИЙ ГОСУДАРСТВЕННЫЙ 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ТЕХНОЛОГИЧЕСКИЙ УНИВЕРСИТЕТ»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endParaRPr lang="en-US" sz="28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Факультет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28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Кафедра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28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Специальность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1-40 05 01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Информационные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системы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технологии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43200" y="5057775"/>
            <a:ext cx="13368160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Тема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дипломного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п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роекта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 </a:t>
            </a:r>
          </a:p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«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Веб-приложение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для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онлайн-библиотеки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0" y="8224392"/>
            <a:ext cx="12573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Дипломник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    </a:t>
            </a:r>
            <a:r>
              <a:rPr lang="en-US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Стрелковская 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Вероника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ru-RU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ндреевна</a:t>
            </a:r>
            <a:endParaRPr lang="en-US" sz="32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Руководитель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</a:t>
            </a:r>
            <a:r>
              <a:rPr lang="ru-RU" sz="3200" u="none" strike="noStrike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старший преподаватель </a:t>
            </a:r>
            <a:r>
              <a:rPr lang="en-US" sz="3200" u="none" strike="noStrike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Сазонова</a:t>
            </a:r>
            <a:r>
              <a:rPr lang="en-US" sz="3200" u="none" strike="noStrike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Дарья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Владимировна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2180012" y="3086100"/>
            <a:ext cx="14886691" cy="2244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условиях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активного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развития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цифровых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увеличения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объема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электронных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ресурсов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растет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спрос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онлайн-сервисы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хранения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чтения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литературы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Все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больше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пользователей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предпочитают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электронные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книги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так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как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это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удобно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позволяет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получить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доступ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к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ним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с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разных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устройств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в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любое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время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9532" y="6057900"/>
            <a:ext cx="15080081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сегодняшний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день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существует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большое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количество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цифровых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библиотек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сервисов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чтения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однако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многие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из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них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ограничиваются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базовым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просмотром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контента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предоставляют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достаточных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возможностей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работы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с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текстом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 В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частности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часто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отсутствуют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функции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создания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заметок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цитат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формирования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личных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коллекций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сохранения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книг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в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библиотеку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избранное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.</a:t>
            </a:r>
          </a:p>
        </p:txBody>
      </p:sp>
      <p:sp>
        <p:nvSpPr>
          <p:cNvPr id="11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4"/>
          <p:cNvGrpSpPr/>
          <p:nvPr/>
        </p:nvGrpSpPr>
        <p:grpSpPr>
          <a:xfrm>
            <a:off x="381000" y="707968"/>
            <a:ext cx="1768532" cy="1768532"/>
            <a:chOff x="0" y="0"/>
            <a:chExt cx="812800" cy="812800"/>
          </a:xfrm>
        </p:grpSpPr>
        <p:sp>
          <p:nvSpPr>
            <p:cNvPr id="14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5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2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1295400" y="1233161"/>
            <a:ext cx="84582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Актуальность проекта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582879" y="5984783"/>
            <a:ext cx="1728988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БД,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3073464"/>
            <a:ext cx="1598606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Цель</a:t>
            </a: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</a:t>
            </a:r>
            <a:r>
              <a:rPr lang="en-US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разработка</a:t>
            </a:r>
            <a:r>
              <a:rPr lang="en-US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веб-приложения</a:t>
            </a:r>
            <a:r>
              <a:rPr lang="en-US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5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онлайн-библиотеки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98119" y="4480752"/>
            <a:ext cx="53206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Основные</a:t>
            </a: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задачи</a:t>
            </a:r>
            <a:r>
              <a:rPr lang="en-US" sz="50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</a:t>
            </a:r>
          </a:p>
        </p:txBody>
      </p:sp>
      <p:sp>
        <p:nvSpPr>
          <p:cNvPr id="12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4"/>
          <p:cNvGrpSpPr/>
          <p:nvPr/>
        </p:nvGrpSpPr>
        <p:grpSpPr>
          <a:xfrm>
            <a:off x="381000" y="707968"/>
            <a:ext cx="1768532" cy="1768532"/>
            <a:chOff x="0" y="0"/>
            <a:chExt cx="812800" cy="812800"/>
          </a:xfrm>
        </p:grpSpPr>
        <p:sp>
          <p:nvSpPr>
            <p:cNvPr id="1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3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8" name="TextBox 9"/>
          <p:cNvSpPr txBox="1"/>
          <p:nvPr/>
        </p:nvSpPr>
        <p:spPr>
          <a:xfrm>
            <a:off x="1295400" y="1233161"/>
            <a:ext cx="84582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Цель и основные задачи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0" name="TextBox 7"/>
          <p:cNvSpPr txBox="1"/>
          <p:nvPr/>
        </p:nvSpPr>
        <p:spPr>
          <a:xfrm>
            <a:off x="582879" y="5527927"/>
            <a:ext cx="14173200" cy="456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3499"/>
              </a:lnSpc>
              <a:buFont typeface="Symbol" panose="05050102010706020507" pitchFamily="18" charset="2"/>
              <a:buChar char=""/>
            </a:pP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роанализировать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существующие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решения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возможности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;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582878" y="6613909"/>
            <a:ext cx="1519052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-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ализовать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серверную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клиентскую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598119" y="7301376"/>
            <a:ext cx="968502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ровести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4" name="TextBox 7"/>
          <p:cNvSpPr txBox="1"/>
          <p:nvPr/>
        </p:nvSpPr>
        <p:spPr>
          <a:xfrm>
            <a:off x="582879" y="7964316"/>
            <a:ext cx="968502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азработать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598118" y="8579869"/>
            <a:ext cx="1540388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существить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технико-экономическое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68250" y="3199399"/>
            <a:ext cx="8475750" cy="3998378"/>
          </a:xfrm>
          <a:custGeom>
            <a:avLst/>
            <a:gdLst/>
            <a:ahLst/>
            <a:cxnLst/>
            <a:rect l="l" t="t" r="r" b="b"/>
            <a:pathLst>
              <a:path w="7553352" h="3563243">
                <a:moveTo>
                  <a:pt x="0" y="0"/>
                </a:moveTo>
                <a:lnTo>
                  <a:pt x="7553352" y="0"/>
                </a:lnTo>
                <a:lnTo>
                  <a:pt x="7553352" y="3563244"/>
                </a:lnTo>
                <a:lnTo>
                  <a:pt x="0" y="3563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6" r="-127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705947" y="5295900"/>
            <a:ext cx="8197293" cy="3781002"/>
          </a:xfrm>
          <a:custGeom>
            <a:avLst/>
            <a:gdLst/>
            <a:ahLst/>
            <a:cxnLst/>
            <a:rect l="l" t="t" r="r" b="b"/>
            <a:pathLst>
              <a:path w="7527336" h="3471984">
                <a:moveTo>
                  <a:pt x="0" y="0"/>
                </a:moveTo>
                <a:lnTo>
                  <a:pt x="7527336" y="0"/>
                </a:lnTo>
                <a:lnTo>
                  <a:pt x="7527336" y="3471984"/>
                </a:lnTo>
                <a:lnTo>
                  <a:pt x="0" y="3471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05948" y="1169784"/>
            <a:ext cx="8116728" cy="3784424"/>
          </a:xfrm>
          <a:custGeom>
            <a:avLst/>
            <a:gdLst/>
            <a:ahLst/>
            <a:cxnLst/>
            <a:rect l="l" t="t" r="r" b="b"/>
            <a:pathLst>
              <a:path w="7527336" h="3509620">
                <a:moveTo>
                  <a:pt x="0" y="0"/>
                </a:moveTo>
                <a:lnTo>
                  <a:pt x="7527336" y="0"/>
                </a:lnTo>
                <a:lnTo>
                  <a:pt x="7527336" y="3509620"/>
                </a:lnTo>
                <a:lnTo>
                  <a:pt x="0" y="3509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4"/>
          <p:cNvGrpSpPr/>
          <p:nvPr/>
        </p:nvGrpSpPr>
        <p:grpSpPr>
          <a:xfrm>
            <a:off x="381000" y="707968"/>
            <a:ext cx="1768532" cy="1768532"/>
            <a:chOff x="0" y="0"/>
            <a:chExt cx="812800" cy="812800"/>
          </a:xfrm>
        </p:grpSpPr>
        <p:sp>
          <p:nvSpPr>
            <p:cNvPr id="1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4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8" name="TextBox 9"/>
          <p:cNvSpPr txBox="1"/>
          <p:nvPr/>
        </p:nvSpPr>
        <p:spPr>
          <a:xfrm>
            <a:off x="1295400" y="1233161"/>
            <a:ext cx="773701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Рассмотрение аналогов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9" name="TextBox 9"/>
          <p:cNvSpPr txBox="1"/>
          <p:nvPr/>
        </p:nvSpPr>
        <p:spPr>
          <a:xfrm>
            <a:off x="4333325" y="7453528"/>
            <a:ext cx="166116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Litnet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0" name="TextBox 9"/>
          <p:cNvSpPr txBox="1"/>
          <p:nvPr/>
        </p:nvSpPr>
        <p:spPr>
          <a:xfrm>
            <a:off x="12801600" y="9105900"/>
            <a:ext cx="23622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MyBook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1" name="TextBox 9"/>
          <p:cNvSpPr txBox="1"/>
          <p:nvPr/>
        </p:nvSpPr>
        <p:spPr>
          <a:xfrm>
            <a:off x="12039600" y="459259"/>
            <a:ext cx="38862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Яндекс Книги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5750723" y="5861795"/>
            <a:ext cx="2665567" cy="2756438"/>
          </a:xfrm>
          <a:custGeom>
            <a:avLst/>
            <a:gdLst/>
            <a:ahLst/>
            <a:cxnLst/>
            <a:rect l="l" t="t" r="r" b="b"/>
            <a:pathLst>
              <a:path w="1965777" h="2032792">
                <a:moveTo>
                  <a:pt x="0" y="0"/>
                </a:moveTo>
                <a:lnTo>
                  <a:pt x="1965777" y="0"/>
                </a:lnTo>
                <a:lnTo>
                  <a:pt x="1965777" y="2032792"/>
                </a:lnTo>
                <a:lnTo>
                  <a:pt x="0" y="20327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20465" y="5573767"/>
            <a:ext cx="3086150" cy="3074887"/>
          </a:xfrm>
          <a:custGeom>
            <a:avLst/>
            <a:gdLst/>
            <a:ahLst/>
            <a:cxnLst/>
            <a:rect l="l" t="t" r="r" b="b"/>
            <a:pathLst>
              <a:path w="2368902" h="2360257">
                <a:moveTo>
                  <a:pt x="0" y="0"/>
                </a:moveTo>
                <a:lnTo>
                  <a:pt x="2368902" y="0"/>
                </a:lnTo>
                <a:lnTo>
                  <a:pt x="2368902" y="2360257"/>
                </a:lnTo>
                <a:lnTo>
                  <a:pt x="0" y="2360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447380" y="1940403"/>
            <a:ext cx="2697620" cy="2697620"/>
          </a:xfrm>
          <a:custGeom>
            <a:avLst/>
            <a:gdLst/>
            <a:ahLst/>
            <a:cxnLst/>
            <a:rect l="l" t="t" r="r" b="b"/>
            <a:pathLst>
              <a:path w="2140500" h="2140500">
                <a:moveTo>
                  <a:pt x="0" y="0"/>
                </a:moveTo>
                <a:lnTo>
                  <a:pt x="2140500" y="0"/>
                </a:lnTo>
                <a:lnTo>
                  <a:pt x="2140500" y="2140500"/>
                </a:lnTo>
                <a:lnTo>
                  <a:pt x="0" y="214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03937" y="6020217"/>
            <a:ext cx="4486522" cy="2523669"/>
          </a:xfrm>
          <a:custGeom>
            <a:avLst/>
            <a:gdLst/>
            <a:ahLst/>
            <a:cxnLst/>
            <a:rect l="l" t="t" r="r" b="b"/>
            <a:pathLst>
              <a:path w="4193228" h="2358691">
                <a:moveTo>
                  <a:pt x="0" y="0"/>
                </a:moveTo>
                <a:lnTo>
                  <a:pt x="4193228" y="0"/>
                </a:lnTo>
                <a:lnTo>
                  <a:pt x="4193228" y="2358691"/>
                </a:lnTo>
                <a:lnTo>
                  <a:pt x="0" y="23586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409868" y="5565908"/>
            <a:ext cx="4610931" cy="3520172"/>
          </a:xfrm>
          <a:custGeom>
            <a:avLst/>
            <a:gdLst/>
            <a:ahLst/>
            <a:cxnLst/>
            <a:rect l="l" t="t" r="r" b="b"/>
            <a:pathLst>
              <a:path w="3888298" h="2968485">
                <a:moveTo>
                  <a:pt x="0" y="0"/>
                </a:moveTo>
                <a:lnTo>
                  <a:pt x="3888297" y="0"/>
                </a:lnTo>
                <a:lnTo>
                  <a:pt x="3888297" y="2968485"/>
                </a:lnTo>
                <a:lnTo>
                  <a:pt x="0" y="2968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30452" y="2120462"/>
            <a:ext cx="2624177" cy="2337502"/>
          </a:xfrm>
          <a:custGeom>
            <a:avLst/>
            <a:gdLst/>
            <a:ahLst/>
            <a:cxnLst/>
            <a:rect l="l" t="t" r="r" b="b"/>
            <a:pathLst>
              <a:path w="1912055" h="1703175">
                <a:moveTo>
                  <a:pt x="0" y="0"/>
                </a:moveTo>
                <a:lnTo>
                  <a:pt x="1912055" y="0"/>
                </a:lnTo>
                <a:lnTo>
                  <a:pt x="1912055" y="1703175"/>
                </a:lnTo>
                <a:lnTo>
                  <a:pt x="0" y="17031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91497" y="2265275"/>
            <a:ext cx="3424503" cy="2047875"/>
          </a:xfrm>
          <a:custGeom>
            <a:avLst/>
            <a:gdLst/>
            <a:ahLst/>
            <a:cxnLst/>
            <a:rect l="l" t="t" r="r" b="b"/>
            <a:pathLst>
              <a:path w="2854158" h="1706805">
                <a:moveTo>
                  <a:pt x="0" y="0"/>
                </a:moveTo>
                <a:lnTo>
                  <a:pt x="2854158" y="0"/>
                </a:lnTo>
                <a:lnTo>
                  <a:pt x="2854158" y="1706805"/>
                </a:lnTo>
                <a:lnTo>
                  <a:pt x="0" y="17068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0172283" y="8420100"/>
            <a:ext cx="3086100" cy="396733"/>
            <a:chOff x="0" y="0"/>
            <a:chExt cx="812800" cy="10448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04489"/>
            </a:xfrm>
            <a:custGeom>
              <a:avLst/>
              <a:gdLst/>
              <a:ahLst/>
              <a:cxnLst/>
              <a:rect l="l" t="t" r="r" b="b"/>
              <a:pathLst>
                <a:path w="812800" h="104489">
                  <a:moveTo>
                    <a:pt x="0" y="0"/>
                  </a:moveTo>
                  <a:lnTo>
                    <a:pt x="812800" y="0"/>
                  </a:lnTo>
                  <a:lnTo>
                    <a:pt x="812800" y="104489"/>
                  </a:lnTo>
                  <a:lnTo>
                    <a:pt x="0" y="104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4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638800" y="8719691"/>
            <a:ext cx="3380679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PostgreSQL 15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97654" y="8719691"/>
            <a:ext cx="383535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Sequelize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ORM 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25600" y="8719691"/>
            <a:ext cx="2971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Docker 28.5.2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33755" y="4747444"/>
            <a:ext cx="232487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Node.js 18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2519" y="8719691"/>
            <a:ext cx="2809357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Express.js 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7158" y="4757291"/>
            <a:ext cx="321076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React.js 19.2.0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41036" y="4752368"/>
            <a:ext cx="518874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TanStack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React Query 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38085" y="4747445"/>
            <a:ext cx="3331326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React Router 6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381000" y="8087196"/>
            <a:ext cx="3086100" cy="541394"/>
            <a:chOff x="0" y="-38100"/>
            <a:chExt cx="812800" cy="14258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104489"/>
            </a:xfrm>
            <a:custGeom>
              <a:avLst/>
              <a:gdLst/>
              <a:ahLst/>
              <a:cxnLst/>
              <a:rect l="l" t="t" r="r" b="b"/>
              <a:pathLst>
                <a:path w="812800" h="104489">
                  <a:moveTo>
                    <a:pt x="0" y="0"/>
                  </a:moveTo>
                  <a:lnTo>
                    <a:pt x="812800" y="0"/>
                  </a:lnTo>
                  <a:lnTo>
                    <a:pt x="812800" y="104489"/>
                  </a:lnTo>
                  <a:lnTo>
                    <a:pt x="0" y="10448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812800" cy="1425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31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4"/>
          <p:cNvGrpSpPr/>
          <p:nvPr/>
        </p:nvGrpSpPr>
        <p:grpSpPr>
          <a:xfrm>
            <a:off x="381000" y="555568"/>
            <a:ext cx="1311332" cy="1311332"/>
            <a:chOff x="0" y="0"/>
            <a:chExt cx="812800" cy="812800"/>
          </a:xfrm>
        </p:grpSpPr>
        <p:sp>
          <p:nvSpPr>
            <p:cNvPr id="34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35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TextBox 8"/>
          <p:cNvSpPr txBox="1"/>
          <p:nvPr/>
        </p:nvSpPr>
        <p:spPr>
          <a:xfrm>
            <a:off x="17670881" y="9290689"/>
            <a:ext cx="464719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5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37" name="TextBox 9"/>
          <p:cNvSpPr txBox="1"/>
          <p:nvPr/>
        </p:nvSpPr>
        <p:spPr>
          <a:xfrm>
            <a:off x="984079" y="821427"/>
            <a:ext cx="732172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Используемые технологии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320" y="2013846"/>
            <a:ext cx="2624177" cy="262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4"/>
          <p:cNvGrpSpPr/>
          <p:nvPr/>
        </p:nvGrpSpPr>
        <p:grpSpPr>
          <a:xfrm>
            <a:off x="381000" y="479368"/>
            <a:ext cx="1311332" cy="1311332"/>
            <a:chOff x="0" y="0"/>
            <a:chExt cx="812800" cy="812800"/>
          </a:xfrm>
        </p:grpSpPr>
        <p:sp>
          <p:nvSpPr>
            <p:cNvPr id="17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8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6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0" name="TextBox 9"/>
          <p:cNvSpPr txBox="1"/>
          <p:nvPr/>
        </p:nvSpPr>
        <p:spPr>
          <a:xfrm>
            <a:off x="984079" y="745227"/>
            <a:ext cx="998872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вариантов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использования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«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Гость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»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35" y="2552700"/>
            <a:ext cx="17585981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381000" y="326968"/>
            <a:ext cx="1311332" cy="131133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4079" y="592827"/>
            <a:ext cx="11639577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вариантов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использования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«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Пользователь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»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972032"/>
            <a:ext cx="17952720" cy="88196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4"/>
          <p:cNvGrpSpPr/>
          <p:nvPr/>
        </p:nvGrpSpPr>
        <p:grpSpPr>
          <a:xfrm>
            <a:off x="381000" y="326968"/>
            <a:ext cx="1311332" cy="1311332"/>
            <a:chOff x="0" y="0"/>
            <a:chExt cx="812800" cy="812800"/>
          </a:xfrm>
        </p:grpSpPr>
        <p:sp>
          <p:nvSpPr>
            <p:cNvPr id="13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4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8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984079" y="592827"/>
            <a:ext cx="1280812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вариантов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использования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«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Администратор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  <a:sym typeface="Inter"/>
              </a:rPr>
              <a:t>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725" y="1333500"/>
            <a:ext cx="14630075" cy="8458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4"/>
          <p:cNvGrpSpPr/>
          <p:nvPr/>
        </p:nvGrpSpPr>
        <p:grpSpPr>
          <a:xfrm>
            <a:off x="381000" y="326968"/>
            <a:ext cx="1311332" cy="1311332"/>
            <a:chOff x="0" y="0"/>
            <a:chExt cx="812800" cy="812800"/>
          </a:xfrm>
        </p:grpSpPr>
        <p:sp>
          <p:nvSpPr>
            <p:cNvPr id="13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4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8"/>
          <p:cNvSpPr txBox="1"/>
          <p:nvPr/>
        </p:nvSpPr>
        <p:spPr>
          <a:xfrm>
            <a:off x="17670881" y="9290689"/>
            <a:ext cx="464719" cy="95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9</a:t>
            </a:r>
          </a:p>
        </p:txBody>
      </p:sp>
      <p:sp>
        <p:nvSpPr>
          <p:cNvPr id="16" name="TextBox 9"/>
          <p:cNvSpPr txBox="1"/>
          <p:nvPr/>
        </p:nvSpPr>
        <p:spPr>
          <a:xfrm>
            <a:off x="984079" y="592827"/>
            <a:ext cx="694072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Логическая схема базы данных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79" y="1275894"/>
            <a:ext cx="16541921" cy="86758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4"/>
          <p:cNvGrpSpPr/>
          <p:nvPr/>
        </p:nvGrpSpPr>
        <p:grpSpPr>
          <a:xfrm>
            <a:off x="381000" y="326968"/>
            <a:ext cx="1311332" cy="1311332"/>
            <a:chOff x="0" y="0"/>
            <a:chExt cx="812800" cy="812800"/>
          </a:xfrm>
        </p:grpSpPr>
        <p:sp>
          <p:nvSpPr>
            <p:cNvPr id="14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5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8"/>
          <p:cNvSpPr txBox="1"/>
          <p:nvPr/>
        </p:nvSpPr>
        <p:spPr>
          <a:xfrm>
            <a:off x="17526001" y="9290689"/>
            <a:ext cx="762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10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7" name="TextBox 9"/>
          <p:cNvSpPr txBox="1"/>
          <p:nvPr/>
        </p:nvSpPr>
        <p:spPr>
          <a:xfrm>
            <a:off x="984079" y="592827"/>
            <a:ext cx="5950121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Диаграмма развертывания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0" y="1471746"/>
            <a:ext cx="15590520" cy="8178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4"/>
          <p:cNvGrpSpPr/>
          <p:nvPr/>
        </p:nvGrpSpPr>
        <p:grpSpPr>
          <a:xfrm>
            <a:off x="381000" y="326968"/>
            <a:ext cx="1311332" cy="1311332"/>
            <a:chOff x="0" y="0"/>
            <a:chExt cx="812800" cy="812800"/>
          </a:xfrm>
        </p:grpSpPr>
        <p:sp>
          <p:nvSpPr>
            <p:cNvPr id="13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4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8"/>
          <p:cNvSpPr txBox="1"/>
          <p:nvPr/>
        </p:nvSpPr>
        <p:spPr>
          <a:xfrm>
            <a:off x="17526001" y="9290689"/>
            <a:ext cx="762000" cy="958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11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984079" y="592827"/>
            <a:ext cx="9074321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Блок-схема алгоритма добавления книги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66" y="1638300"/>
            <a:ext cx="16085618" cy="828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2438400" y="2318320"/>
            <a:ext cx="13726848" cy="7258071"/>
          </a:xfrm>
          <a:custGeom>
            <a:avLst/>
            <a:gdLst/>
            <a:ahLst/>
            <a:cxnLst/>
            <a:rect l="l" t="t" r="r" b="b"/>
            <a:pathLst>
              <a:path w="11872163" h="6277406">
                <a:moveTo>
                  <a:pt x="0" y="0"/>
                </a:moveTo>
                <a:lnTo>
                  <a:pt x="11872163" y="0"/>
                </a:lnTo>
                <a:lnTo>
                  <a:pt x="11872163" y="6277407"/>
                </a:lnTo>
                <a:lnTo>
                  <a:pt x="0" y="6277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4"/>
          <p:cNvGrpSpPr/>
          <p:nvPr/>
        </p:nvGrpSpPr>
        <p:grpSpPr>
          <a:xfrm>
            <a:off x="381000" y="707968"/>
            <a:ext cx="1768532" cy="1768532"/>
            <a:chOff x="0" y="0"/>
            <a:chExt cx="812800" cy="812800"/>
          </a:xfrm>
        </p:grpSpPr>
        <p:sp>
          <p:nvSpPr>
            <p:cNvPr id="13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4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TextBox 8"/>
          <p:cNvSpPr txBox="1"/>
          <p:nvPr/>
        </p:nvSpPr>
        <p:spPr>
          <a:xfrm>
            <a:off x="17526001" y="9290689"/>
            <a:ext cx="6858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12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6" name="TextBox 9"/>
          <p:cNvSpPr txBox="1"/>
          <p:nvPr/>
        </p:nvSpPr>
        <p:spPr>
          <a:xfrm>
            <a:off x="1295400" y="1233161"/>
            <a:ext cx="84582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Демонстрация работы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67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905001" y="2001391"/>
            <a:ext cx="15055522" cy="7866509"/>
          </a:xfrm>
          <a:custGeom>
            <a:avLst/>
            <a:gdLst/>
            <a:ahLst/>
            <a:cxnLst/>
            <a:rect l="l" t="t" r="r" b="b"/>
            <a:pathLst>
              <a:path w="12553155" h="6559023">
                <a:moveTo>
                  <a:pt x="0" y="0"/>
                </a:moveTo>
                <a:lnTo>
                  <a:pt x="12553154" y="0"/>
                </a:lnTo>
                <a:lnTo>
                  <a:pt x="12553154" y="6559024"/>
                </a:lnTo>
                <a:lnTo>
                  <a:pt x="0" y="65590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4"/>
          <p:cNvGrpSpPr/>
          <p:nvPr/>
        </p:nvGrpSpPr>
        <p:grpSpPr>
          <a:xfrm>
            <a:off x="381000" y="419100"/>
            <a:ext cx="1768532" cy="1768532"/>
            <a:chOff x="0" y="0"/>
            <a:chExt cx="812800" cy="812800"/>
          </a:xfrm>
        </p:grpSpPr>
        <p:sp>
          <p:nvSpPr>
            <p:cNvPr id="13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4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9"/>
          <p:cNvSpPr txBox="1"/>
          <p:nvPr/>
        </p:nvSpPr>
        <p:spPr>
          <a:xfrm>
            <a:off x="1310640" y="944293"/>
            <a:ext cx="914400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Экономические показатели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17526001" y="9290689"/>
            <a:ext cx="685800" cy="958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13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65266" y="2694682"/>
            <a:ext cx="1643056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ходе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дипломного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проектирования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было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разработано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веб-приложение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для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о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лайн-библиотеки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, а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также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решены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все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поставленные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задачи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</a:t>
            </a:r>
          </a:p>
        </p:txBody>
      </p:sp>
      <p:sp>
        <p:nvSpPr>
          <p:cNvPr id="11" name="AutoShape 2"/>
          <p:cNvSpPr/>
          <p:nvPr/>
        </p:nvSpPr>
        <p:spPr>
          <a:xfrm>
            <a:off x="182880" y="9944100"/>
            <a:ext cx="170764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3"/>
          <p:cNvSpPr/>
          <p:nvPr/>
        </p:nvSpPr>
        <p:spPr>
          <a:xfrm>
            <a:off x="182880" y="266700"/>
            <a:ext cx="1795272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4"/>
          <p:cNvGrpSpPr/>
          <p:nvPr/>
        </p:nvGrpSpPr>
        <p:grpSpPr>
          <a:xfrm>
            <a:off x="381000" y="736723"/>
            <a:ext cx="1768532" cy="1768532"/>
            <a:chOff x="0" y="0"/>
            <a:chExt cx="812800" cy="812800"/>
          </a:xfrm>
        </p:grpSpPr>
        <p:sp>
          <p:nvSpPr>
            <p:cNvPr id="14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EFED"/>
            </a:solidFill>
          </p:spPr>
        </p:sp>
        <p:sp>
          <p:nvSpPr>
            <p:cNvPr id="15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TextBox 9"/>
          <p:cNvSpPr txBox="1"/>
          <p:nvPr/>
        </p:nvSpPr>
        <p:spPr>
          <a:xfrm>
            <a:off x="1310640" y="1261916"/>
            <a:ext cx="417576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ru-RU" sz="6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Заключение</a:t>
            </a:r>
            <a:endParaRPr lang="en-US" sz="6000" dirty="0">
              <a:solidFill>
                <a:srgbClr val="000000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17526001" y="9290689"/>
            <a:ext cx="685800" cy="958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ru-RU" sz="5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14</a:t>
            </a:r>
            <a:endParaRPr lang="en-US" sz="5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3" name="TextBox 7"/>
          <p:cNvSpPr txBox="1"/>
          <p:nvPr/>
        </p:nvSpPr>
        <p:spPr>
          <a:xfrm>
            <a:off x="701040" y="4707640"/>
            <a:ext cx="17289881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БД,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4" name="TextBox 7"/>
          <p:cNvSpPr txBox="1"/>
          <p:nvPr/>
        </p:nvSpPr>
        <p:spPr>
          <a:xfrm>
            <a:off x="701040" y="4250784"/>
            <a:ext cx="1514856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ts val="3499"/>
              </a:lnSpc>
              <a:buFont typeface="Symbol" panose="05050102010706020507" pitchFamily="18" charset="2"/>
              <a:buChar char=""/>
            </a:pP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роанализирова</a:t>
            </a:r>
            <a:r>
              <a:rPr lang="ru-RU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ны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существующие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решения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их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возможности</a:t>
            </a: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;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25" name="TextBox 7"/>
          <p:cNvSpPr txBox="1"/>
          <p:nvPr/>
        </p:nvSpPr>
        <p:spPr>
          <a:xfrm>
            <a:off x="701040" y="5366147"/>
            <a:ext cx="1575816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-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ализова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ны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части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en-US" sz="4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7"/>
          <p:cNvSpPr txBox="1"/>
          <p:nvPr/>
        </p:nvSpPr>
        <p:spPr>
          <a:xfrm>
            <a:off x="716280" y="6024233"/>
            <a:ext cx="968502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рове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дено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27" name="TextBox 7"/>
          <p:cNvSpPr txBox="1"/>
          <p:nvPr/>
        </p:nvSpPr>
        <p:spPr>
          <a:xfrm>
            <a:off x="701040" y="6687173"/>
            <a:ext cx="968502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азработа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4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7"/>
          <p:cNvSpPr txBox="1"/>
          <p:nvPr/>
        </p:nvSpPr>
        <p:spPr>
          <a:xfrm>
            <a:off x="716280" y="7302726"/>
            <a:ext cx="1482852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buFont typeface="Symbol" panose="05050102010706020507" pitchFamily="18" charset="2"/>
              <a:buChar char=""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лено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технико-экономическое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TextBox 5"/>
          <p:cNvSpPr txBox="1"/>
          <p:nvPr/>
        </p:nvSpPr>
        <p:spPr>
          <a:xfrm>
            <a:off x="1310640" y="8485882"/>
            <a:ext cx="1643056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ru-RU" sz="40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Прошла апробация в рамках 77-ой научно-технической конференции учащихся, студентов </a:t>
            </a:r>
            <a:r>
              <a:rPr lang="ru-RU" sz="400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 магистрантов БГТУ.</a:t>
            </a:r>
            <a:endParaRPr lang="en-US" sz="4000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/>
          <p:nvPr/>
        </p:nvSpPr>
        <p:spPr>
          <a:xfrm>
            <a:off x="845511" y="7487082"/>
            <a:ext cx="2307749" cy="2551838"/>
          </a:xfrm>
          <a:custGeom>
            <a:avLst/>
            <a:gdLst/>
            <a:ahLst/>
            <a:cxnLst/>
            <a:rect l="l" t="t" r="r" b="b"/>
            <a:pathLst>
              <a:path w="2307749" h="2551838">
                <a:moveTo>
                  <a:pt x="0" y="0"/>
                </a:moveTo>
                <a:lnTo>
                  <a:pt x="2307750" y="0"/>
                </a:lnTo>
                <a:lnTo>
                  <a:pt x="2307750" y="2551838"/>
                </a:lnTo>
                <a:lnTo>
                  <a:pt x="0" y="255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3"/>
          <p:cNvSpPr txBox="1"/>
          <p:nvPr/>
        </p:nvSpPr>
        <p:spPr>
          <a:xfrm>
            <a:off x="3657600" y="971550"/>
            <a:ext cx="11220628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МИНИСТЕРСТВО ОБРАЗОВАНИЯ РЕСПУБЛИКИ БЕЛАРУСЬ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Учреждение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образования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«БЕЛОРУССКИЙ ГОСУДАРСТВЕННЫЙ 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ТЕХНОЛОГИЧЕСКИЙ УНИВЕРСИТЕТ»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endParaRPr lang="en-US" sz="28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Факультет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28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Кафедра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информационных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технологий</a:t>
            </a:r>
            <a:endParaRPr lang="en-US" sz="28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Специальность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1-40 05 01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Информационные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системы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и </a:t>
            </a:r>
            <a:r>
              <a:rPr lang="en-US" sz="28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технологии</a:t>
            </a:r>
            <a:r>
              <a:rPr lang="en-US" sz="28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  <p:sp>
        <p:nvSpPr>
          <p:cNvPr id="8" name="TextBox 4"/>
          <p:cNvSpPr txBox="1"/>
          <p:nvPr/>
        </p:nvSpPr>
        <p:spPr>
          <a:xfrm>
            <a:off x="2743200" y="5057775"/>
            <a:ext cx="13368160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5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Тема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дипломного</a:t>
            </a: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п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роекта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: </a:t>
            </a:r>
          </a:p>
          <a:p>
            <a:pPr marL="0" lvl="0" indent="0" algn="ctr">
              <a:lnSpc>
                <a:spcPts val="5600"/>
              </a:lnSpc>
              <a:spcBef>
                <a:spcPct val="0"/>
              </a:spcBef>
            </a:pP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«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Веб-приложение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для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 </a:t>
            </a:r>
            <a:r>
              <a:rPr lang="en-US" sz="5400" b="1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онлайн-библиотеки</a:t>
            </a:r>
            <a:r>
              <a:rPr lang="en-US" sz="5400" b="1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»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5486400" y="8224392"/>
            <a:ext cx="125730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4200"/>
              </a:lnSpc>
              <a:spcBef>
                <a:spcPct val="0"/>
              </a:spcBef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Дипломник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    </a:t>
            </a:r>
            <a:r>
              <a:rPr lang="en-US" sz="3200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Стрелковская 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Вероника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ru-RU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А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ндреевна</a:t>
            </a:r>
            <a:endParaRPr lang="en-US" sz="3200" u="none" strike="noStrike" dirty="0">
              <a:solidFill>
                <a:srgbClr val="000000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Руководитель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: </a:t>
            </a:r>
            <a:r>
              <a:rPr lang="ru-RU" sz="3200" u="none" strike="noStrike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старший преподаватель </a:t>
            </a:r>
            <a:r>
              <a:rPr lang="en-US" sz="3200" u="none" strike="noStrike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Сазонова</a:t>
            </a:r>
            <a:r>
              <a:rPr lang="en-US" sz="3200" u="none" strike="noStrike" dirty="0" smtClean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Дарья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3200" u="none" strike="noStrike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Владимировна</a:t>
            </a:r>
            <a:r>
              <a:rPr lang="en-US" sz="3200" u="none" strike="noStrike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421</Words>
  <Application>Microsoft Office PowerPoint</Application>
  <PresentationFormat>Произвольный</PresentationFormat>
  <Paragraphs>77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Times New Roman</vt:lpstr>
      <vt:lpstr>Calibri</vt:lpstr>
      <vt:lpstr>Inter</vt:lpstr>
      <vt:lpstr>Inter Bold</vt:lpstr>
      <vt:lpstr>Symbol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ОБРАЗОВАНИЯ РЕСПУБЛИКИ БЕЛАРУСЬ Учреждения образования «БЕЛОРУССКИЙ ГОСУДАРСТВЕННЫЙ ТЕХНОЛОГИЧЕСКИЙ УНИВЕРСИТЕТ» Факультет информационных технологий Кафедра информационных систем и технологий Специальность 1-40 05 01 Информационные системы и</dc:title>
  <dc:creator>User</dc:creator>
  <cp:lastModifiedBy>User</cp:lastModifiedBy>
  <cp:revision>29</cp:revision>
  <dcterms:created xsi:type="dcterms:W3CDTF">2006-08-16T00:00:00Z</dcterms:created>
  <dcterms:modified xsi:type="dcterms:W3CDTF">2026-07-07T07:53:09Z</dcterms:modified>
  <dc:identifier>DAHLH9s_JtA</dc:identifier>
</cp:coreProperties>
</file>