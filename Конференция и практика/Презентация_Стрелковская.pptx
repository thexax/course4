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67" r:id="rId5"/>
    <p:sldId id="259" r:id="rId6"/>
    <p:sldId id="260" r:id="rId7"/>
    <p:sldId id="268" r:id="rId8"/>
    <p:sldId id="262" r:id="rId9"/>
    <p:sldId id="263" r:id="rId10"/>
    <p:sldId id="264" r:id="rId11"/>
    <p:sldId id="271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3322"/>
    <a:srgbClr val="462300"/>
    <a:srgbClr val="542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792" y="-2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18748-11D9-4417-8784-6210187A7646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4773A-7083-41E4-991E-89CC4D231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91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30698"/>
            <a:ext cx="56880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Стрелковская Вероника Андреевна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и Технологии 4 курс 2 группа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User\Pictures\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177" y="0"/>
            <a:ext cx="1600410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1682" y="2835890"/>
            <a:ext cx="62105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Web-</a:t>
            </a:r>
            <a:r>
              <a:rPr lang="ru-RU" sz="4800" b="1" dirty="0" smtClean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приложение для онлайн-библиотеки</a:t>
            </a:r>
            <a:endParaRPr lang="ru-RU" sz="4800" b="1" dirty="0"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810458" y="6405443"/>
            <a:ext cx="4245054" cy="1168479"/>
          </a:xfrm>
          <a:prstGeom prst="roundRect">
            <a:avLst>
              <a:gd name="adj" fmla="val 593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92554" y="6405443"/>
            <a:ext cx="4245173" cy="1168479"/>
          </a:xfrm>
          <a:prstGeom prst="roundRect">
            <a:avLst>
              <a:gd name="adj" fmla="val 593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74768" y="6405443"/>
            <a:ext cx="4245173" cy="1168479"/>
          </a:xfrm>
          <a:prstGeom prst="roundRect">
            <a:avLst>
              <a:gd name="adj" fmla="val 593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pic>
        <p:nvPicPr>
          <p:cNvPr id="2051" name="Picture 3" descr="C:\Users\User\Downloads\Mask grou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543" y="973098"/>
            <a:ext cx="5168900" cy="516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10458" y="710055"/>
            <a:ext cx="25684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Введение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0458" y="1715240"/>
            <a:ext cx="74449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В современном мире всё больше привычных процессов переходят в цифровую среду, и чтение книг не является исключением. Онлайн-библиотеки становятся удобным способом получить доступ к литературе в любое время и с любого устройства. Такой формат особенно актуален в условиях постоянной занятости и быстрого темпа жизни.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0458" y="3846279"/>
            <a:ext cx="74449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Основная идея проекта – создание веб-приложения онлайн-библиотеки, которое позволит пользователям удобно искать, читать и сохранять книги в личной коллекции. Приложение должно быть простым в использовании, иметь современный интерфейс и обеспечивать разные возможности для пользователей и администратора.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4050" y="6512874"/>
            <a:ext cx="1238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1955" y="6517898"/>
            <a:ext cx="1654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31540" y="6512874"/>
            <a:ext cx="1680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955" y="6866684"/>
            <a:ext cx="4154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Чтение в любое время и с любого устройства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4050" y="6866684"/>
            <a:ext cx="38361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Мобильность и доступность информации</a:t>
            </a:r>
            <a:endParaRPr lang="ru-RU" sz="1600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31540" y="6860133"/>
            <a:ext cx="3320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для создания подборок и отслеживания прогресса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56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47" y="1575911"/>
            <a:ext cx="4243626" cy="4243626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387" y="1575911"/>
            <a:ext cx="4243626" cy="4243626"/>
          </a:xfrm>
          <a:prstGeom prst="rect">
            <a:avLst/>
          </a:prstGeom>
        </p:spPr>
      </p:pic>
      <p:pic>
        <p:nvPicPr>
          <p:cNvPr id="9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27" y="1575911"/>
            <a:ext cx="4243626" cy="4243626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36922" y="462986"/>
            <a:ext cx="81412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922" y="5999964"/>
            <a:ext cx="853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Litnet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6922" y="6402032"/>
            <a:ext cx="4051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Крупнейшая платформа для чтения и публикации книг. Объединяет авторов и читателей, поддерживает комментарии и оценки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89767" y="5994892"/>
            <a:ext cx="1826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Яндекс Книги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89767" y="6401305"/>
            <a:ext cx="4051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Обширная библиотека электронных и аудиокниг. Интеграция с экосистемой Яндекс, удобный поиск и сортировка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72266" y="599489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MyBook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72266" y="6395002"/>
            <a:ext cx="4051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Тысячи произведений с синхронизацией между устройствами. Поддержка аудиокниг и персонализированных коллекций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93790" y="3436382"/>
            <a:ext cx="4215289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8" name="Text 6"/>
          <p:cNvSpPr/>
          <p:nvPr/>
        </p:nvSpPr>
        <p:spPr>
          <a:xfrm>
            <a:off x="5207437" y="312205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436382"/>
            <a:ext cx="4215408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2" name="Text 10"/>
          <p:cNvSpPr/>
          <p:nvPr/>
        </p:nvSpPr>
        <p:spPr>
          <a:xfrm>
            <a:off x="9621203" y="312205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3436382"/>
            <a:ext cx="4215289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531030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624632"/>
            <a:ext cx="6422112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0" name="Text 18"/>
          <p:cNvSpPr/>
          <p:nvPr/>
        </p:nvSpPr>
        <p:spPr>
          <a:xfrm>
            <a:off x="7414260" y="531030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14260" y="5624632"/>
            <a:ext cx="6422231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4" name="Прямоугольник 23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721105" y="847706"/>
            <a:ext cx="5115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1104" y="1961626"/>
            <a:ext cx="132379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Цель проекта – разработка веб-приложения онлайн-библиотеки, предназначенного для хранения, чтения и управления электронными книгами с поддержкой различных ролей пользователей.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1105" y="3524730"/>
            <a:ext cx="3698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1104" y="3978796"/>
            <a:ext cx="4051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для хранения информации о пользователях, книгах и коллекциях с поддержкой поиска и фильтрации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2765" y="3119269"/>
            <a:ext cx="451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03262" y="3532088"/>
            <a:ext cx="3407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89945" y="3524730"/>
            <a:ext cx="3296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пользователя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1105" y="5724555"/>
            <a:ext cx="2890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Права администратора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03566" y="5724555"/>
            <a:ext cx="3132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Интуитивный интерфейс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2765" y="6198751"/>
            <a:ext cx="6377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каталогом, авторами, издательствами, блокировка пользователей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03566" y="6203518"/>
            <a:ext cx="517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Удобная навигация и комфортный процесс чтения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3262" y="3978796"/>
            <a:ext cx="405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личных аккаунтов и безопасный вход в систему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89945" y="3978796"/>
            <a:ext cx="405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каталога, поиск, чтение книг, создание коллекций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03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93790" y="1808798"/>
            <a:ext cx="6407944" cy="2955250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12" y="2161401"/>
            <a:ext cx="443865" cy="4438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28548" y="1808798"/>
            <a:ext cx="6408063" cy="2955250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0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676" y="2137926"/>
            <a:ext cx="491054" cy="49105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3790" y="4990862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15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06" y="5318879"/>
            <a:ext cx="493276" cy="49327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428548" y="4990862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5E54"/>
          </a:solidFill>
          <a:ln/>
        </p:spPr>
      </p:sp>
      <p:pic>
        <p:nvPicPr>
          <p:cNvPr id="20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200" y="5318879"/>
            <a:ext cx="493276" cy="493276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840090" y="660718"/>
            <a:ext cx="6131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7965" y="2866303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70382" y="2866302"/>
            <a:ext cx="2535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7965" y="6102034"/>
            <a:ext cx="1785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70382" y="6102033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7965" y="3417756"/>
            <a:ext cx="6069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 приложения с компонентным подходом и управлением состоянием через </a:t>
            </a:r>
            <a:r>
              <a:rPr lang="en-US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API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70382" y="3417756"/>
            <a:ext cx="6069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логика с </a:t>
            </a:r>
            <a:r>
              <a:rPr lang="en-US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REST-</a:t>
            </a:r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маршрутизацией, обработкой запросов и бизнес-логикой приложения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7964" y="6589099"/>
            <a:ext cx="6069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Реляционная база данных для хранения информации о пользователях, книгах и коллекциях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70381" y="6586849"/>
            <a:ext cx="6069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 всех сервисов с </a:t>
            </a:r>
            <a:r>
              <a:rPr lang="en-US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 </a:t>
            </a:r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удобного развёртывания и масштабирования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038" y="2024182"/>
            <a:ext cx="1030962" cy="14766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038" y="3500795"/>
            <a:ext cx="1030962" cy="123717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038" y="4737973"/>
            <a:ext cx="1030962" cy="1237178"/>
          </a:xfrm>
          <a:prstGeom prst="rect">
            <a:avLst/>
          </a:prstGeom>
        </p:spPr>
      </p:pic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6106570" y="706055"/>
            <a:ext cx="6845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45379" y="4932998"/>
            <a:ext cx="1659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5379" y="3676166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5379" y="2262153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45379" y="2655771"/>
            <a:ext cx="666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-интерфейс с веб-сокетами для взаимодействия с сервером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45379" y="4056925"/>
            <a:ext cx="666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-сервер с </a:t>
            </a:r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-маршрутами и </a:t>
            </a:r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JWT-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аутентификацией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45379" y="5275537"/>
            <a:ext cx="666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хранения данных пользователей и книг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06570" y="6277658"/>
            <a:ext cx="7802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использует клиент-серверную архитектуру с разделением на слои: представление, контроллеры, модели и базу данных. Все компоненты </a:t>
            </a:r>
            <a:r>
              <a:rPr lang="ru-RU" dirty="0" err="1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контейнеризированы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помощью </a:t>
            </a:r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110" y="1809036"/>
            <a:ext cx="4946213" cy="4946213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697" y="1809036"/>
            <a:ext cx="4946213" cy="494621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136455" y="347241"/>
            <a:ext cx="6891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вариантов использования</a:t>
            </a:r>
            <a:endParaRPr lang="ru-RU" sz="3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31478" y="889664"/>
            <a:ext cx="10367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Варианты использования описывают, как пользователи будут взаимодействовать с системой в зависимости от своих ролей. В системе присутствуют две роли: пользователь и администратор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7624" y="6787801"/>
            <a:ext cx="3839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Регистрация и авторизация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Просмотр и взаимодействие с книгами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Написание комментариев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Создание коллекций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Чтение книг онлайн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80697" y="6755249"/>
            <a:ext cx="3839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Просмотр информации о пользователях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Блокировка и разблокировка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Управление каталогом книг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Работа с авторами и издательствами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Управление жанрами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1478" y="1414921"/>
            <a:ext cx="22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Роль: Пользователь</a:t>
            </a:r>
            <a:endParaRPr lang="ru-RU" sz="16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097" y="1412884"/>
            <a:ext cx="22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Роль: Администратор</a:t>
            </a:r>
            <a:endParaRPr lang="ru-RU" sz="16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71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711" y="1954530"/>
            <a:ext cx="4564975" cy="4430838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67410" y="694480"/>
            <a:ext cx="6845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базы данных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99371" y="2485997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36844" y="2052642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14889" y="4943058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36844" y="3833616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36844" y="5583092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Favorites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7573" y="2919738"/>
            <a:ext cx="3912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системы с ролями и учётными данными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7572" y="5360157"/>
            <a:ext cx="3912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Комментарии к книгам от пользователей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36844" y="2467956"/>
            <a:ext cx="3912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Книги с описанием, авторами, жанрами и файлами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36844" y="4251625"/>
            <a:ext cx="39122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Коллекции пользователей с книгами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36844" y="6008408"/>
            <a:ext cx="39122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Избранные книги пользователей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76" y="6963827"/>
            <a:ext cx="13167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включает 10 таблиц со связями один-ко-многим и многие-ко-многим для эффективного хранения данных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133" y="612577"/>
            <a:ext cx="13342388" cy="66751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56" y="2193965"/>
            <a:ext cx="7872889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9" name="Shape 6"/>
          <p:cNvSpPr/>
          <p:nvPr/>
        </p:nvSpPr>
        <p:spPr>
          <a:xfrm>
            <a:off x="635556" y="3529965"/>
            <a:ext cx="7872889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3" name="Shape 10"/>
          <p:cNvSpPr/>
          <p:nvPr/>
        </p:nvSpPr>
        <p:spPr>
          <a:xfrm>
            <a:off x="635556" y="4865965"/>
            <a:ext cx="7872889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7" name="Shape 14"/>
          <p:cNvSpPr/>
          <p:nvPr/>
        </p:nvSpPr>
        <p:spPr>
          <a:xfrm>
            <a:off x="635556" y="6201966"/>
            <a:ext cx="7872889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0" name="Прямоугольник 19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508231" y="729205"/>
            <a:ext cx="6845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2956" y="2289855"/>
            <a:ext cx="2294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2956" y="3628334"/>
            <a:ext cx="2109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книги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2956" y="4950031"/>
            <a:ext cx="184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чтения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2956" y="6304347"/>
            <a:ext cx="2883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пользователя</a:t>
            </a:r>
            <a:endParaRPr lang="ru-RU" sz="20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2956" y="2689965"/>
            <a:ext cx="7107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книг с поиском, фильтрацией по жанрам и возрастным ограничениям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2956" y="4056121"/>
            <a:ext cx="7107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Детальная информация, обложка, описание, кнопка чтения  и комментарии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2956" y="5372107"/>
            <a:ext cx="4091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Плавная загрузка контента, прогресс чтения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2955" y="6716020"/>
            <a:ext cx="7107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данных, просмотр коллекций и избранных книг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5277" y="1870055"/>
            <a:ext cx="45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106" y="3209490"/>
            <a:ext cx="45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106" y="4541174"/>
            <a:ext cx="45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106" y="5886562"/>
            <a:ext cx="451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" y="942701"/>
            <a:ext cx="5730240" cy="625526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41732" y="1899523"/>
            <a:ext cx="7633335" cy="1626632"/>
          </a:xfrm>
          <a:prstGeom prst="roundRect">
            <a:avLst>
              <a:gd name="adj" fmla="val 8994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1253" y="1899523"/>
            <a:ext cx="121920" cy="1626632"/>
          </a:xfrm>
          <a:prstGeom prst="roundRect">
            <a:avLst>
              <a:gd name="adj" fmla="val 74353"/>
            </a:avLst>
          </a:prstGeom>
          <a:solidFill>
            <a:srgbClr val="835E54"/>
          </a:solidFill>
          <a:ln/>
        </p:spPr>
      </p:sp>
      <p:sp>
        <p:nvSpPr>
          <p:cNvPr id="8" name="Shape 5"/>
          <p:cNvSpPr/>
          <p:nvPr/>
        </p:nvSpPr>
        <p:spPr>
          <a:xfrm>
            <a:off x="6241732" y="3731419"/>
            <a:ext cx="7633335" cy="1626632"/>
          </a:xfrm>
          <a:prstGeom prst="roundRect">
            <a:avLst>
              <a:gd name="adj" fmla="val 8994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1253" y="3731419"/>
            <a:ext cx="121920" cy="1626632"/>
          </a:xfrm>
          <a:prstGeom prst="roundRect">
            <a:avLst>
              <a:gd name="adj" fmla="val 74353"/>
            </a:avLst>
          </a:prstGeom>
          <a:solidFill>
            <a:srgbClr val="835E54"/>
          </a:solidFill>
          <a:ln/>
        </p:spPr>
      </p:sp>
      <p:sp>
        <p:nvSpPr>
          <p:cNvPr id="12" name="Shape 9"/>
          <p:cNvSpPr/>
          <p:nvPr/>
        </p:nvSpPr>
        <p:spPr>
          <a:xfrm>
            <a:off x="6241731" y="5474529"/>
            <a:ext cx="7633335" cy="1626632"/>
          </a:xfrm>
          <a:prstGeom prst="roundRect">
            <a:avLst>
              <a:gd name="adj" fmla="val 8994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1253" y="5482290"/>
            <a:ext cx="121920" cy="1626632"/>
          </a:xfrm>
          <a:prstGeom prst="roundRect">
            <a:avLst>
              <a:gd name="adj" fmla="val 74353"/>
            </a:avLst>
          </a:prstGeom>
          <a:solidFill>
            <a:srgbClr val="835E54"/>
          </a:solidFill>
          <a:ln/>
        </p:spPr>
      </p:sp>
      <p:sp>
        <p:nvSpPr>
          <p:cNvPr id="16" name="Прямоугольник 15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6211253" y="557980"/>
            <a:ext cx="7252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</a:t>
            </a:r>
            <a:r>
              <a:rPr lang="ru-RU" sz="4400" b="1" dirty="0" err="1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3246" y="5769332"/>
            <a:ext cx="2050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3246" y="3885799"/>
            <a:ext cx="2830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ошибок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3246" y="2192510"/>
            <a:ext cx="255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err="1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форм</a:t>
            </a:r>
            <a:endParaRPr lang="ru-RU" sz="2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3246" y="2654175"/>
            <a:ext cx="7449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корректности вводимых данных при регистрации, авторизации и добавления книг. Обработка некорректных данных и пустых полей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73246" y="4339106"/>
            <a:ext cx="7449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выводит понятные сообщения об ошибках при вводе некорректных данных, использовании существующих </a:t>
            </a:r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или неправильной структуре почты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3246" y="6241545"/>
            <a:ext cx="7449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паролей с хешированием, </a:t>
            </a:r>
            <a:r>
              <a:rPr lang="en-US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-авторизация, проверка </a:t>
            </a:r>
            <a:r>
              <a:rPr lang="ru-RU" dirty="0" err="1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токенов</a:t>
            </a:r>
            <a:r>
              <a:rPr lang="ru-RU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разграничение прав доступа между пользователями и администратором</a:t>
            </a:r>
            <a:endParaRPr lang="ru-RU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1286947" y="4663242"/>
            <a:ext cx="343972" cy="343972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88662" y="4663242"/>
            <a:ext cx="343972" cy="343972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6947" y="5477153"/>
            <a:ext cx="343972" cy="343972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662" y="5477153"/>
            <a:ext cx="343972" cy="343972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6947" y="6678732"/>
            <a:ext cx="12056388" cy="771287"/>
          </a:xfrm>
          <a:prstGeom prst="roundRect">
            <a:avLst>
              <a:gd name="adj" fmla="val 8326"/>
            </a:avLst>
          </a:prstGeom>
          <a:solidFill>
            <a:srgbClr val="E1D4D0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823" y="6872871"/>
            <a:ext cx="191095" cy="152876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12786360" y="7757160"/>
            <a:ext cx="1844040" cy="4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1171197" y="511680"/>
            <a:ext cx="34075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71197" y="1281121"/>
            <a:ext cx="132379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4A3322"/>
                </a:solidFill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В ходе выполнения проекта было разработано веб-приложение электронной библиотеки, позволяющее пользователям удобно искать, читать и сохранять книги. Реализованный функционал отвечает современным требованиям к подобным сервисам и предоставляет пользователям комфортный интерфейс для работы с литературой, а администратору – инструменты для управления контентом.</a:t>
            </a:r>
            <a:endParaRPr lang="ru-RU" sz="2000" dirty="0">
              <a:solidFill>
                <a:srgbClr val="4A3322"/>
              </a:solidFill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74854" y="2594401"/>
            <a:ext cx="8524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81196" y="2594399"/>
            <a:ext cx="467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9905" y="2594397"/>
            <a:ext cx="467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44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27988" y="3296305"/>
            <a:ext cx="2154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 базы данный</a:t>
            </a:r>
            <a:endParaRPr lang="ru-RU" sz="16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4247" y="3296305"/>
            <a:ext cx="2061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Роли пользователей</a:t>
            </a:r>
            <a:endParaRPr lang="ru-RU" sz="16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27016" y="3296305"/>
            <a:ext cx="2473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 компонентов</a:t>
            </a:r>
            <a:endParaRPr lang="ru-RU" sz="16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54068" y="4979531"/>
            <a:ext cx="5801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Безопасное хранение данных и корректная работа с учётными записями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58686" y="3648866"/>
            <a:ext cx="3589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 доступа и функционала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26276" y="3648867"/>
            <a:ext cx="3845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Клиент, сервер и база данных в единой системе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71197" y="4112546"/>
            <a:ext cx="2678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Решённые задачи</a:t>
            </a:r>
            <a:endParaRPr lang="ru-RU" sz="2200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44496" y="4651368"/>
            <a:ext cx="413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регистрации и авторизации</a:t>
            </a:r>
            <a:endParaRPr lang="ru-RU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69361" y="4651667"/>
            <a:ext cx="188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Ролевая модель</a:t>
            </a:r>
            <a:endParaRPr lang="ru-RU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496" y="5474943"/>
            <a:ext cx="3340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для пользователей</a:t>
            </a:r>
            <a:endParaRPr lang="ru-RU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34636" y="5479151"/>
            <a:ext cx="413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462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 для администраторов</a:t>
            </a:r>
            <a:endParaRPr lang="ru-RU" b="1" dirty="0">
              <a:solidFill>
                <a:srgbClr val="462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84643" y="3801267"/>
            <a:ext cx="4133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Структурированное хранение всех данных системы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46211" y="4979530"/>
            <a:ext cx="5333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Обычные пользователи и администратор с разграничением доступа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30918" y="5804378"/>
            <a:ext cx="5801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каталога, поиск, коллекции, избранное, комментарии, чтение книг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44209" y="5821125"/>
            <a:ext cx="5801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книгами, авторами, жанрами, издательствами и пользователями</a:t>
            </a:r>
            <a:endParaRPr lang="ru-RU" sz="14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586870" y="6777614"/>
            <a:ext cx="11615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 </a:t>
            </a:r>
            <a:r>
              <a:rPr lang="ru-RU" sz="1600" dirty="0" smtClean="0">
                <a:solidFill>
                  <a:srgbClr val="4A33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может служить основой для дальнейшего расширения – добавления рекомендаций, расширенного поиска, истории чтения и других функций, которые улучшат пользовательский опыт.</a:t>
            </a:r>
            <a:endParaRPr lang="ru-RU" sz="1600" dirty="0">
              <a:solidFill>
                <a:srgbClr val="4A33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7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770</Words>
  <Application>Microsoft Office PowerPoint</Application>
  <PresentationFormat>Произвольный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Calibri</vt:lpstr>
      <vt:lpstr>Crimson Pro Light</vt:lpstr>
      <vt:lpstr>Crimson Pro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22</cp:revision>
  <dcterms:created xsi:type="dcterms:W3CDTF">2026-03-16T12:48:45Z</dcterms:created>
  <dcterms:modified xsi:type="dcterms:W3CDTF">2026-03-23T06:47:26Z</dcterms:modified>
</cp:coreProperties>
</file>